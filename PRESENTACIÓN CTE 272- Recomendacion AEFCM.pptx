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384" r:id="rId11"/>
    <p:sldId id="385" r:id="rId12"/>
    <p:sldId id="386" r:id="rId13"/>
    <p:sldId id="387" r:id="rId14"/>
    <p:sldId id="388" r:id="rId15"/>
    <p:sldId id="389" r:id="rId16"/>
    <p:sldId id="392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175" y="-3175"/>
            <a:ext cx="12198350" cy="6864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73644" y="1310673"/>
            <a:ext cx="9559290" cy="20345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A3E3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E1E1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A3E3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E1E1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175" y="-3175"/>
            <a:ext cx="12198350" cy="68643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6180" y="61174"/>
            <a:ext cx="3665622" cy="365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A3E3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602726" y="1933035"/>
            <a:ext cx="4155440" cy="3648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11363" y="1722410"/>
            <a:ext cx="4453820" cy="46338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A3E3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175" y="-3175"/>
            <a:ext cx="12198350" cy="6864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0300" y="1002922"/>
            <a:ext cx="6236970" cy="982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A3E3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5999" y="2758377"/>
            <a:ext cx="5604509" cy="2471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E1E1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Relationship Id="rId9" Type="http://schemas.openxmlformats.org/officeDocument/2006/relationships/image" Target="../media/image13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jp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b.mx/sep/acciones-y-programas/codigo-de-conducta-sep-19566" TargetMode="External"/><Relationship Id="rId3" Type="http://schemas.openxmlformats.org/officeDocument/2006/relationships/image" Target="../media/image25.png"/><Relationship Id="rId7" Type="http://schemas.openxmlformats.org/officeDocument/2006/relationships/hyperlink" Target="https://www.diputados.gob.mx/LeyesBiblio/pdf/LGE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hyperlink" Target="https://www.diputados.gob.mx/LeyesBiblio/pdf/LGRA.pdf" TargetMode="External"/><Relationship Id="rId5" Type="http://schemas.openxmlformats.org/officeDocument/2006/relationships/image" Target="../media/image27.jpg"/><Relationship Id="rId10" Type="http://schemas.openxmlformats.org/officeDocument/2006/relationships/hyperlink" Target="https://www.aefcm.gob.mx/cultura-de-paz-y-convivencia/" TargetMode="External"/><Relationship Id="rId4" Type="http://schemas.openxmlformats.org/officeDocument/2006/relationships/image" Target="../media/image26.png"/><Relationship Id="rId9" Type="http://schemas.openxmlformats.org/officeDocument/2006/relationships/hyperlink" Target="https://www.gob.mx/sep/articulos/guia-operativa-para-la-organizacion-y-funcionamiento-de-los-servicios-de-educacion?idiom=e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5.png"/><Relationship Id="rId7" Type="http://schemas.openxmlformats.org/officeDocument/2006/relationships/image" Target="../media/image3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4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9.jp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3">
            <a:extLst>
              <a:ext uri="{FF2B5EF4-FFF2-40B4-BE49-F238E27FC236}">
                <a16:creationId xmlns:a16="http://schemas.microsoft.com/office/drawing/2014/main" id="{BD7573A1-85AB-BFF5-C3F3-2C9230BB35B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9" y="2263"/>
            <a:ext cx="12198350" cy="686435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225893" y="-1828800"/>
            <a:ext cx="10370178" cy="4213915"/>
            <a:chOff x="1600199" y="281885"/>
            <a:chExt cx="10370178" cy="4213915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rcRect r="74138" b="51700"/>
            <a:stretch>
              <a:fillRect/>
            </a:stretch>
          </p:blipFill>
          <p:spPr>
            <a:xfrm>
              <a:off x="1600199" y="2285999"/>
              <a:ext cx="2286001" cy="22098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04755" y="281885"/>
              <a:ext cx="3665622" cy="36512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775752" y="655120"/>
            <a:ext cx="9190355" cy="1453603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675764" marR="180340" indent="-1663700" algn="ctr">
              <a:lnSpc>
                <a:spcPts val="5580"/>
              </a:lnSpc>
              <a:spcBef>
                <a:spcPts val="835"/>
              </a:spcBef>
            </a:pPr>
            <a:r>
              <a:rPr lang="es-ES" sz="5200" spc="-105" dirty="0">
                <a:solidFill>
                  <a:srgbClr val="FFFFFF"/>
                </a:solidFill>
              </a:rPr>
              <a:t> </a:t>
            </a:r>
            <a:r>
              <a:rPr lang="es-ES" sz="5200" spc="-105" dirty="0">
                <a:solidFill>
                  <a:srgbClr val="FFFFFF"/>
                </a:solidFill>
                <a:highlight>
                  <a:srgbClr val="000000"/>
                </a:highlight>
              </a:rPr>
              <a:t>ZONA ESCOLAR 27</a:t>
            </a:r>
            <a:r>
              <a:rPr sz="5200" spc="-50" dirty="0">
                <a:solidFill>
                  <a:srgbClr val="FFFFFF"/>
                </a:solidFill>
                <a:highlight>
                  <a:srgbClr val="000000"/>
                </a:highlight>
              </a:rPr>
              <a:t>2</a:t>
            </a:r>
            <a:br>
              <a:rPr lang="es-ES" sz="5200" dirty="0">
                <a:highlight>
                  <a:srgbClr val="000000"/>
                </a:highlight>
              </a:rPr>
            </a:br>
            <a:r>
              <a:rPr lang="es-ES" sz="2000" b="0" spc="-10" dirty="0">
                <a:solidFill>
                  <a:srgbClr val="E7D395"/>
                </a:solidFill>
                <a:highlight>
                  <a:srgbClr val="000000"/>
                </a:highlight>
                <a:latin typeface="Arial MT"/>
                <a:cs typeface="Arial MT"/>
              </a:rPr>
              <a:t>MTRA</a:t>
            </a:r>
            <a:r>
              <a:rPr sz="2000" b="0" spc="-10" dirty="0">
                <a:solidFill>
                  <a:srgbClr val="E7D395"/>
                </a:solidFill>
                <a:highlight>
                  <a:srgbClr val="000000"/>
                </a:highlight>
                <a:latin typeface="Arial MT"/>
                <a:cs typeface="Arial MT"/>
              </a:rPr>
              <a:t>.</a:t>
            </a:r>
            <a:r>
              <a:rPr sz="2000" b="0" spc="-100" dirty="0">
                <a:solidFill>
                  <a:srgbClr val="E7D395"/>
                </a:solidFill>
                <a:highlight>
                  <a:srgbClr val="000000"/>
                </a:highlight>
                <a:latin typeface="Arial MT"/>
                <a:cs typeface="Arial MT"/>
              </a:rPr>
              <a:t> </a:t>
            </a:r>
            <a:r>
              <a:rPr lang="es-ES" sz="2000" b="0" spc="-10" dirty="0">
                <a:solidFill>
                  <a:srgbClr val="E7D395"/>
                </a:solidFill>
                <a:highlight>
                  <a:srgbClr val="000000"/>
                </a:highlight>
                <a:latin typeface="Arial MT"/>
                <a:cs typeface="Arial MT"/>
              </a:rPr>
              <a:t>ALMA DELIA MARTÍNEZ SANTANA</a:t>
            </a:r>
            <a:endParaRPr sz="2000" dirty="0">
              <a:highlight>
                <a:srgbClr val="000000"/>
              </a:highlight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000" y="2972154"/>
            <a:ext cx="11015345" cy="1500732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algn="ctr">
              <a:lnSpc>
                <a:spcPts val="3329"/>
              </a:lnSpc>
              <a:spcBef>
                <a:spcPts val="535"/>
              </a:spcBef>
            </a:pPr>
            <a:r>
              <a:rPr lang="es-ES" sz="4800" b="1" dirty="0">
                <a:solidFill>
                  <a:srgbClr val="FFFFFF"/>
                </a:solidFill>
                <a:highlight>
                  <a:srgbClr val="000000"/>
                </a:highlight>
                <a:latin typeface="Arial"/>
                <a:cs typeface="Arial"/>
              </a:rPr>
              <a:t>BIENVENIDAS A LA </a:t>
            </a:r>
          </a:p>
          <a:p>
            <a:pPr marL="12700" marR="5080" algn="ctr">
              <a:lnSpc>
                <a:spcPts val="3329"/>
              </a:lnSpc>
              <a:spcBef>
                <a:spcPts val="535"/>
              </a:spcBef>
            </a:pPr>
            <a:r>
              <a:rPr lang="es-ES" sz="4800" b="1" dirty="0">
                <a:solidFill>
                  <a:srgbClr val="FFFFFF"/>
                </a:solidFill>
                <a:highlight>
                  <a:srgbClr val="000000"/>
                </a:highlight>
                <a:latin typeface="Arial"/>
                <a:cs typeface="Arial"/>
              </a:rPr>
              <a:t>1ER. </a:t>
            </a:r>
            <a:r>
              <a:rPr sz="4800" b="1" dirty="0">
                <a:solidFill>
                  <a:srgbClr val="FFFFFF"/>
                </a:solidFill>
                <a:highlight>
                  <a:srgbClr val="000000"/>
                </a:highlight>
                <a:latin typeface="Arial"/>
                <a:cs typeface="Arial"/>
              </a:rPr>
              <a:t>REUNIÓN</a:t>
            </a:r>
            <a:r>
              <a:rPr sz="4800" b="1" spc="-50" dirty="0">
                <a:solidFill>
                  <a:srgbClr val="FFFFFF"/>
                </a:solidFill>
                <a:highlight>
                  <a:srgbClr val="000000"/>
                </a:highlight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FFFFFF"/>
                </a:solidFill>
                <a:highlight>
                  <a:srgbClr val="000000"/>
                </a:highlight>
                <a:latin typeface="Arial"/>
                <a:cs typeface="Arial"/>
              </a:rPr>
              <a:t>CON</a:t>
            </a:r>
            <a:r>
              <a:rPr sz="4800" b="1" spc="-45" dirty="0">
                <a:solidFill>
                  <a:srgbClr val="FFFFFF"/>
                </a:solidFill>
                <a:highlight>
                  <a:srgbClr val="000000"/>
                </a:highlight>
                <a:latin typeface="Arial"/>
                <a:cs typeface="Arial"/>
              </a:rPr>
              <a:t> </a:t>
            </a:r>
            <a:r>
              <a:rPr sz="4800" b="1" dirty="0">
                <a:solidFill>
                  <a:srgbClr val="FFFFFF"/>
                </a:solidFill>
                <a:highlight>
                  <a:srgbClr val="000000"/>
                </a:highlight>
                <a:latin typeface="Arial"/>
                <a:cs typeface="Arial"/>
              </a:rPr>
              <a:t>DIRECTOR</a:t>
            </a:r>
            <a:r>
              <a:rPr lang="es-ES" sz="4800" b="1" dirty="0">
                <a:solidFill>
                  <a:srgbClr val="FFFFFF"/>
                </a:solidFill>
                <a:highlight>
                  <a:srgbClr val="000000"/>
                </a:highlight>
                <a:latin typeface="Arial"/>
                <a:cs typeface="Arial"/>
              </a:rPr>
              <a:t>A</a:t>
            </a:r>
            <a:r>
              <a:rPr sz="4800" b="1" dirty="0">
                <a:solidFill>
                  <a:srgbClr val="FFFFFF"/>
                </a:solidFill>
                <a:highlight>
                  <a:srgbClr val="000000"/>
                </a:highlight>
                <a:latin typeface="Arial"/>
                <a:cs typeface="Arial"/>
              </a:rPr>
              <a:t>S</a:t>
            </a:r>
            <a:r>
              <a:rPr lang="es-ES" sz="4800" b="1" dirty="0">
                <a:solidFill>
                  <a:srgbClr val="FFFFFF"/>
                </a:solidFill>
                <a:highlight>
                  <a:srgbClr val="000000"/>
                </a:highlight>
                <a:latin typeface="Arial"/>
                <a:cs typeface="Arial"/>
              </a:rPr>
              <a:t> </a:t>
            </a:r>
          </a:p>
          <a:p>
            <a:pPr marL="12700" marR="5080" algn="ctr">
              <a:lnSpc>
                <a:spcPts val="3329"/>
              </a:lnSpc>
              <a:spcBef>
                <a:spcPts val="535"/>
              </a:spcBef>
            </a:pPr>
            <a:r>
              <a:rPr lang="es-ES" sz="4800" b="1" dirty="0">
                <a:solidFill>
                  <a:srgbClr val="FFFFFF"/>
                </a:solidFill>
                <a:highlight>
                  <a:srgbClr val="000000"/>
                </a:highlight>
                <a:latin typeface="Arial"/>
                <a:cs typeface="Arial"/>
              </a:rPr>
              <a:t>CICLO ESCOLAR 2026-2027</a:t>
            </a:r>
            <a:r>
              <a:rPr sz="4800" b="1" spc="-45" dirty="0">
                <a:solidFill>
                  <a:srgbClr val="FFFFFF"/>
                </a:solidFill>
                <a:highlight>
                  <a:srgbClr val="000000"/>
                </a:highlight>
                <a:latin typeface="Arial"/>
                <a:cs typeface="Arial"/>
              </a:rPr>
              <a:t> </a:t>
            </a:r>
            <a:endParaRPr sz="4800" dirty="0">
              <a:highlight>
                <a:srgbClr val="000000"/>
              </a:highlight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72400" y="5958284"/>
            <a:ext cx="3496147" cy="320601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000" dirty="0">
                <a:solidFill>
                  <a:srgbClr val="E7D395"/>
                </a:solidFill>
                <a:latin typeface="Arial MT"/>
                <a:cs typeface="Arial MT"/>
              </a:rPr>
              <a:t>03</a:t>
            </a:r>
            <a:r>
              <a:rPr sz="2000" spc="-50" dirty="0">
                <a:solidFill>
                  <a:srgbClr val="E7D395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E7D395"/>
                </a:solidFill>
                <a:latin typeface="Arial MT"/>
                <a:cs typeface="Arial MT"/>
              </a:rPr>
              <a:t>DE</a:t>
            </a:r>
            <a:r>
              <a:rPr sz="2000" spc="-125" dirty="0">
                <a:solidFill>
                  <a:srgbClr val="E7D395"/>
                </a:solidFill>
                <a:latin typeface="Arial MT"/>
                <a:cs typeface="Arial MT"/>
              </a:rPr>
              <a:t> </a:t>
            </a:r>
            <a:r>
              <a:rPr lang="es-ES" sz="2000" spc="-125" dirty="0">
                <a:solidFill>
                  <a:srgbClr val="E7D395"/>
                </a:solidFill>
                <a:latin typeface="Arial MT"/>
                <a:cs typeface="Arial MT"/>
              </a:rPr>
              <a:t>SEPTIEMBRE </a:t>
            </a:r>
            <a:r>
              <a:rPr sz="2000" dirty="0">
                <a:solidFill>
                  <a:srgbClr val="E7D395"/>
                </a:solidFill>
                <a:latin typeface="Arial MT"/>
                <a:cs typeface="Arial MT"/>
              </a:rPr>
              <a:t>DE</a:t>
            </a:r>
            <a:r>
              <a:rPr sz="2000" spc="-35" dirty="0">
                <a:solidFill>
                  <a:srgbClr val="E7D395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E7D395"/>
                </a:solidFill>
                <a:latin typeface="Arial MT"/>
                <a:cs typeface="Arial MT"/>
              </a:rPr>
              <a:t>2026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859" y="2263"/>
            <a:ext cx="12198350" cy="6864350"/>
            <a:chOff x="-3175" y="-3175"/>
            <a:chExt cx="12198350" cy="6864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175" y="-3175"/>
              <a:ext cx="12198350" cy="68643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6180" y="281884"/>
              <a:ext cx="3665622" cy="36512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9173" y="1248858"/>
            <a:ext cx="7230651" cy="7925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14400" y="2133600"/>
            <a:ext cx="10744200" cy="2038379"/>
          </a:xfrm>
          <a:prstGeom prst="rect">
            <a:avLst/>
          </a:prstGeom>
          <a:solidFill>
            <a:srgbClr val="FFFFFF"/>
          </a:solidFill>
          <a:ln w="38100">
            <a:solidFill>
              <a:srgbClr val="6E152E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64135" algn="ctr">
              <a:lnSpc>
                <a:spcPct val="100000"/>
              </a:lnSpc>
              <a:spcBef>
                <a:spcPts val="495"/>
              </a:spcBef>
            </a:pPr>
            <a:r>
              <a:rPr lang="es-MX" sz="4000" b="1" i="1" dirty="0">
                <a:latin typeface="Arial"/>
                <a:cs typeface="Arial"/>
              </a:rPr>
              <a:t>COMUNICADO 169 </a:t>
            </a:r>
          </a:p>
          <a:p>
            <a:pPr marL="64135" algn="ctr">
              <a:lnSpc>
                <a:spcPct val="100000"/>
              </a:lnSpc>
              <a:spcBef>
                <a:spcPts val="495"/>
              </a:spcBef>
            </a:pPr>
            <a:r>
              <a:rPr lang="es-MX" sz="4000" b="1" i="1" dirty="0">
                <a:latin typeface="Arial"/>
                <a:cs typeface="Arial"/>
              </a:rPr>
              <a:t>"Recomendación emitida</a:t>
            </a:r>
          </a:p>
          <a:p>
            <a:pPr marL="64135" algn="ctr">
              <a:lnSpc>
                <a:spcPct val="100000"/>
              </a:lnSpc>
              <a:spcBef>
                <a:spcPts val="495"/>
              </a:spcBef>
            </a:pPr>
            <a:r>
              <a:rPr lang="es-MX" sz="4000" b="1" i="1" dirty="0">
                <a:latin typeface="Arial"/>
                <a:cs typeface="Arial"/>
              </a:rPr>
              <a:t>AEFCM/DGOSE/CSEP/SAP/DAJ/0478/2026"</a:t>
            </a:r>
            <a:endParaRPr sz="4000" b="1" i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7160" y="-3175"/>
            <a:ext cx="12198350" cy="6864350"/>
            <a:chOff x="-3175" y="-3175"/>
            <a:chExt cx="12198350" cy="6864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175" y="-3175"/>
              <a:ext cx="12198350" cy="68643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6180" y="281884"/>
              <a:ext cx="3665622" cy="36512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719064" y="940499"/>
            <a:ext cx="2133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7F340D"/>
                </a:solidFill>
              </a:rPr>
              <a:t>PROPÓSITO</a:t>
            </a:r>
            <a:endParaRPr sz="2800"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61546" y="1529418"/>
            <a:ext cx="7230651" cy="7925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8600" y="2126966"/>
            <a:ext cx="11963400" cy="308546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algn="ctr"/>
            <a:r>
              <a:rPr lang="es-MX" sz="4000" b="1" dirty="0"/>
              <a:t>Generar conciencia entre el personal docente sobre las consecuencias que puede ocasionar cualquier forma de violencia, maltrato y acoso escolar</a:t>
            </a:r>
            <a:r>
              <a:rPr lang="es-MX" sz="4000" dirty="0"/>
              <a:t>, promoviendo una actuación responsable, respetuosa y apegada a los protocolos establecidos.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object 3">
            <a:extLst>
              <a:ext uri="{FF2B5EF4-FFF2-40B4-BE49-F238E27FC236}">
                <a16:creationId xmlns:a16="http://schemas.microsoft.com/office/drawing/2014/main" id="{7E30C0C7-AE46-F05A-ADE5-66BE7D6CFB7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9" y="2263"/>
            <a:ext cx="12198350" cy="68643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952" y="3054095"/>
            <a:ext cx="11314176" cy="36149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50208" y="737616"/>
            <a:ext cx="633984" cy="9570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03264" y="646176"/>
            <a:ext cx="1917191" cy="9845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93352" y="768095"/>
            <a:ext cx="682751" cy="106070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458711" y="3634740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0" y="0"/>
                </a:moveTo>
                <a:lnTo>
                  <a:pt x="25298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37360" y="2244851"/>
            <a:ext cx="445134" cy="0"/>
          </a:xfrm>
          <a:custGeom>
            <a:avLst/>
            <a:gdLst/>
            <a:ahLst/>
            <a:cxnLst/>
            <a:rect l="l" t="t" r="r" b="b"/>
            <a:pathLst>
              <a:path w="445135">
                <a:moveTo>
                  <a:pt x="0" y="0"/>
                </a:moveTo>
                <a:lnTo>
                  <a:pt x="445008" y="0"/>
                </a:lnTo>
              </a:path>
            </a:pathLst>
          </a:custGeom>
          <a:ln w="15240">
            <a:solidFill>
              <a:srgbClr val="6B64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737360" y="1203960"/>
            <a:ext cx="445134" cy="27940"/>
            <a:chOff x="1737360" y="1203960"/>
            <a:chExt cx="445134" cy="27940"/>
          </a:xfrm>
        </p:grpSpPr>
        <p:sp>
          <p:nvSpPr>
            <p:cNvPr id="9" name="object 9"/>
            <p:cNvSpPr/>
            <p:nvPr/>
          </p:nvSpPr>
          <p:spPr>
            <a:xfrm>
              <a:off x="1743456" y="1226820"/>
              <a:ext cx="439420" cy="0"/>
            </a:xfrm>
            <a:custGeom>
              <a:avLst/>
              <a:gdLst/>
              <a:ahLst/>
              <a:cxnLst/>
              <a:rect l="l" t="t" r="r" b="b"/>
              <a:pathLst>
                <a:path w="439419">
                  <a:moveTo>
                    <a:pt x="0" y="0"/>
                  </a:moveTo>
                  <a:lnTo>
                    <a:pt x="438912" y="0"/>
                  </a:lnTo>
                </a:path>
              </a:pathLst>
            </a:custGeom>
            <a:ln w="9144">
              <a:solidFill>
                <a:srgbClr val="6B64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37360" y="1208532"/>
              <a:ext cx="445134" cy="0"/>
            </a:xfrm>
            <a:custGeom>
              <a:avLst/>
              <a:gdLst/>
              <a:ahLst/>
              <a:cxnLst/>
              <a:rect l="l" t="t" r="r" b="b"/>
              <a:pathLst>
                <a:path w="445135">
                  <a:moveTo>
                    <a:pt x="0" y="0"/>
                  </a:moveTo>
                  <a:lnTo>
                    <a:pt x="445008" y="0"/>
                  </a:lnTo>
                </a:path>
              </a:pathLst>
            </a:custGeom>
            <a:ln w="9144">
              <a:solidFill>
                <a:srgbClr val="6B64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21536" y="6327647"/>
            <a:ext cx="307848" cy="13106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232135" y="1502663"/>
            <a:ext cx="277368" cy="17373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99704" y="313943"/>
            <a:ext cx="3599688" cy="31089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611953" y="1374647"/>
            <a:ext cx="583565" cy="69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650"/>
              </a:lnSpc>
              <a:spcBef>
                <a:spcPts val="100"/>
              </a:spcBef>
            </a:pPr>
            <a:r>
              <a:rPr sz="2300" spc="-350" dirty="0">
                <a:solidFill>
                  <a:srgbClr val="6E66A3"/>
                </a:solidFill>
                <a:latin typeface="Arial MT"/>
                <a:cs typeface="Arial MT"/>
              </a:rPr>
              <a:t>001</a:t>
            </a:r>
            <a:r>
              <a:rPr sz="2300" spc="25" dirty="0">
                <a:solidFill>
                  <a:srgbClr val="6E66A3"/>
                </a:solidFill>
                <a:latin typeface="Arial MT"/>
                <a:cs typeface="Arial MT"/>
              </a:rPr>
              <a:t> </a:t>
            </a:r>
            <a:r>
              <a:rPr sz="2300" spc="-395" dirty="0">
                <a:solidFill>
                  <a:srgbClr val="6E66A3"/>
                </a:solidFill>
                <a:latin typeface="Arial MT"/>
                <a:cs typeface="Arial MT"/>
              </a:rPr>
              <a:t>§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ts val="2650"/>
              </a:lnSpc>
            </a:pPr>
            <a:r>
              <a:rPr sz="2300" spc="-350" dirty="0">
                <a:solidFill>
                  <a:srgbClr val="6E66A3"/>
                </a:solidFill>
                <a:latin typeface="Arial MT"/>
                <a:cs typeface="Arial MT"/>
              </a:rPr>
              <a:t>001</a:t>
            </a:r>
            <a:r>
              <a:rPr sz="2300" spc="-85" dirty="0">
                <a:solidFill>
                  <a:srgbClr val="6E66A3"/>
                </a:solidFill>
                <a:latin typeface="Arial MT"/>
                <a:cs typeface="Arial MT"/>
              </a:rPr>
              <a:t> </a:t>
            </a:r>
            <a:r>
              <a:rPr sz="2300" spc="-415" dirty="0">
                <a:solidFill>
                  <a:srgbClr val="F08C75"/>
                </a:solidFill>
                <a:latin typeface="Arial MT"/>
                <a:cs typeface="Arial MT"/>
              </a:rPr>
              <a:t>+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96611" y="6166611"/>
            <a:ext cx="4089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B38E3B"/>
                </a:solidFill>
                <a:latin typeface="Trebuchet MS"/>
                <a:cs typeface="Trebuchet MS"/>
              </a:rPr>
              <a:t>año</a:t>
            </a:r>
            <a:r>
              <a:rPr sz="1000" spc="25" dirty="0">
                <a:solidFill>
                  <a:srgbClr val="B38E3B"/>
                </a:solidFill>
                <a:latin typeface="Trebuchet MS"/>
                <a:cs typeface="Trebuchet MS"/>
              </a:rPr>
              <a:t> </a:t>
            </a:r>
            <a:r>
              <a:rPr sz="1000" spc="-25" dirty="0">
                <a:solidFill>
                  <a:srgbClr val="AC8000"/>
                </a:solidFill>
                <a:latin typeface="Trebuchet MS"/>
                <a:cs typeface="Trebuchet MS"/>
              </a:rPr>
              <a:t>de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5215" y="6338823"/>
            <a:ext cx="68516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95" dirty="0">
                <a:solidFill>
                  <a:srgbClr val="951F3F"/>
                </a:solidFill>
                <a:latin typeface="Trebuchet MS"/>
                <a:cs typeface="Trebuchet MS"/>
              </a:rPr>
              <a:t>Maza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56765" y="6265926"/>
            <a:ext cx="68897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931D3D"/>
                </a:solidFill>
                <a:latin typeface="Trebuchet MS"/>
                <a:cs typeface="Trebuchet MS"/>
              </a:rPr>
              <a:t>M</a:t>
            </a:r>
            <a:r>
              <a:rPr sz="1250" dirty="0">
                <a:solidFill>
                  <a:srgbClr val="720000"/>
                </a:solidFill>
                <a:latin typeface="Trebuchet MS"/>
                <a:cs typeface="Trebuchet MS"/>
              </a:rPr>
              <a:t>argari</a:t>
            </a:r>
            <a:r>
              <a:rPr sz="1250" spc="40" dirty="0">
                <a:solidFill>
                  <a:srgbClr val="720000"/>
                </a:solidFill>
                <a:latin typeface="Trebuchet MS"/>
                <a:cs typeface="Trebuchet MS"/>
              </a:rPr>
              <a:t> </a:t>
            </a:r>
            <a:r>
              <a:rPr sz="1250" spc="-50" dirty="0">
                <a:solidFill>
                  <a:srgbClr val="740011"/>
                </a:solidFill>
                <a:latin typeface="Trebuchet MS"/>
                <a:cs typeface="Trebuchet MS"/>
              </a:rPr>
              <a:t>a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8" name="object 18" descr="$PPTXTitle"/>
          <p:cNvSpPr txBox="1"/>
          <p:nvPr/>
        </p:nvSpPr>
        <p:spPr>
          <a:xfrm>
            <a:off x="2514600" y="2438400"/>
            <a:ext cx="7416888" cy="2385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ts val="4610"/>
              </a:lnSpc>
              <a:spcBef>
                <a:spcPts val="100"/>
              </a:spcBef>
              <a:tabLst>
                <a:tab pos="6619240" algn="l"/>
              </a:tabLst>
            </a:pPr>
            <a:r>
              <a:rPr sz="4000" b="1" dirty="0"/>
              <a:t>ESTRATEGIA NACIONAL</a:t>
            </a:r>
            <a:endParaRPr lang="es-ES" sz="4000" b="1" dirty="0"/>
          </a:p>
          <a:p>
            <a:pPr marL="12700" algn="just">
              <a:lnSpc>
                <a:spcPts val="4610"/>
              </a:lnSpc>
              <a:spcBef>
                <a:spcPts val="100"/>
              </a:spcBef>
              <a:tabLst>
                <a:tab pos="6619240" algn="l"/>
              </a:tabLst>
            </a:pPr>
            <a:r>
              <a:rPr lang="es-MX" sz="4000" b="1" dirty="0"/>
              <a:t>Privilegiar la </a:t>
            </a:r>
            <a:r>
              <a:rPr lang="es-MX" sz="4000" b="1" u="sng" dirty="0"/>
              <a:t>prevención</a:t>
            </a:r>
            <a:r>
              <a:rPr lang="es-MX" sz="4000" b="1" dirty="0"/>
              <a:t> antes que la atención de situaciones consumadas.</a:t>
            </a:r>
            <a:r>
              <a:rPr sz="4400" dirty="0">
                <a:solidFill>
                  <a:srgbClr val="545454"/>
                </a:solidFill>
                <a:latin typeface="Trebuchet MS"/>
                <a:cs typeface="Trebuchet MS"/>
              </a:rPr>
              <a:t>	</a:t>
            </a:r>
            <a:endParaRPr sz="4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3">
            <a:extLst>
              <a:ext uri="{FF2B5EF4-FFF2-40B4-BE49-F238E27FC236}">
                <a16:creationId xmlns:a16="http://schemas.microsoft.com/office/drawing/2014/main" id="{E6346061-B562-5873-2959-88F0E4044D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9" y="2263"/>
            <a:ext cx="12198350" cy="68643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856" y="5888735"/>
            <a:ext cx="1566671" cy="7924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81072" y="6449567"/>
            <a:ext cx="9223248" cy="1158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0639" y="5132832"/>
            <a:ext cx="1572768" cy="152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10383" y="3861815"/>
            <a:ext cx="204216" cy="3718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58528" y="3688079"/>
            <a:ext cx="957072" cy="19812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63039" y="646176"/>
            <a:ext cx="1005840" cy="13258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21536" y="6321552"/>
            <a:ext cx="304800" cy="1371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4543" y="896111"/>
            <a:ext cx="1877567" cy="75590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71016" y="5971032"/>
            <a:ext cx="661416" cy="33832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518392" y="341375"/>
            <a:ext cx="381000" cy="25907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35222" y="6339078"/>
            <a:ext cx="695325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75" dirty="0">
                <a:solidFill>
                  <a:srgbClr val="971F3F"/>
                </a:solidFill>
                <a:latin typeface="Arial MT"/>
                <a:cs typeface="Arial MT"/>
              </a:rPr>
              <a:t>Maza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8418" y="6278626"/>
            <a:ext cx="69342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20" dirty="0">
                <a:solidFill>
                  <a:srgbClr val="951F3F"/>
                </a:solidFill>
                <a:latin typeface="Arial MT"/>
                <a:cs typeface="Arial MT"/>
              </a:rPr>
              <a:t>M</a:t>
            </a:r>
            <a:r>
              <a:rPr sz="1050" spc="35" dirty="0">
                <a:solidFill>
                  <a:srgbClr val="951F3F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77002A"/>
                </a:solidFill>
                <a:latin typeface="Arial MT"/>
                <a:cs typeface="Arial MT"/>
              </a:rPr>
              <a:t>argari</a:t>
            </a:r>
            <a:r>
              <a:rPr sz="1150" spc="340" dirty="0">
                <a:solidFill>
                  <a:srgbClr val="77002A"/>
                </a:solidFill>
                <a:latin typeface="Arial MT"/>
                <a:cs typeface="Arial MT"/>
              </a:rPr>
              <a:t> </a:t>
            </a:r>
            <a:r>
              <a:rPr sz="1150" spc="-50" dirty="0">
                <a:solidFill>
                  <a:srgbClr val="7C1534"/>
                </a:solidFill>
                <a:latin typeface="Arial MT"/>
                <a:cs typeface="Arial MT"/>
              </a:rPr>
              <a:t>a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14600" y="533400"/>
            <a:ext cx="6307455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9090" algn="ctr">
              <a:lnSpc>
                <a:spcPct val="100000"/>
              </a:lnSpc>
              <a:spcBef>
                <a:spcPts val="100"/>
              </a:spcBef>
            </a:pPr>
            <a:r>
              <a:rPr sz="3400" spc="125" dirty="0">
                <a:solidFill>
                  <a:srgbClr val="6E66A3"/>
                </a:solidFill>
                <a:latin typeface="Arial MT"/>
                <a:cs typeface="Arial MT"/>
              </a:rPr>
              <a:t>Proyecto</a:t>
            </a:r>
            <a:r>
              <a:rPr lang="es-ES" sz="3400" spc="125" dirty="0">
                <a:solidFill>
                  <a:srgbClr val="6E66A3"/>
                </a:solidFill>
                <a:latin typeface="Arial MT"/>
                <a:cs typeface="Arial MT"/>
              </a:rPr>
              <a:t> ciclo escolar </a:t>
            </a:r>
          </a:p>
          <a:p>
            <a:pPr marR="339090" algn="ctr">
              <a:lnSpc>
                <a:spcPct val="100000"/>
              </a:lnSpc>
              <a:spcBef>
                <a:spcPts val="100"/>
              </a:spcBef>
            </a:pPr>
            <a:r>
              <a:rPr lang="es-ES" sz="3400" spc="125" dirty="0">
                <a:solidFill>
                  <a:srgbClr val="6E66A3"/>
                </a:solidFill>
                <a:latin typeface="Arial MT"/>
                <a:cs typeface="Arial MT"/>
              </a:rPr>
              <a:t>2026-2027</a:t>
            </a:r>
            <a:endParaRPr sz="3400" dirty="0">
              <a:latin typeface="Arial MT"/>
              <a:cs typeface="Arial MT"/>
            </a:endParaRPr>
          </a:p>
          <a:p>
            <a:pPr algn="just"/>
            <a:r>
              <a:rPr lang="es-MX" dirty="0"/>
              <a:t>F</a:t>
            </a:r>
            <a:r>
              <a:rPr lang="es-MX" sz="1800" dirty="0"/>
              <a:t>ortalecer entre los docentes la </a:t>
            </a:r>
            <a:r>
              <a:rPr lang="es-MX" sz="1800" b="1" i="1" u="sng" dirty="0"/>
              <a:t>identificación oportuna de posibles conductas de riesgo, </a:t>
            </a:r>
            <a:r>
              <a:rPr lang="es-MX" sz="1800" dirty="0"/>
              <a:t>así como la implementación de estrategias que favorezcan una convivencia escolar sana, pacífica, inclusiva y libre de violencia.</a:t>
            </a:r>
          </a:p>
        </p:txBody>
      </p:sp>
      <p:pic>
        <p:nvPicPr>
          <p:cNvPr id="17" name="Picture 2" descr="http://www.rena.edu.ve/SegundaEtapa/ciudadania/imagenes/4escuela.gif">
            <a:extLst>
              <a:ext uri="{FF2B5EF4-FFF2-40B4-BE49-F238E27FC236}">
                <a16:creationId xmlns:a16="http://schemas.microsoft.com/office/drawing/2014/main" id="{7E54E7D1-2C41-7CF6-33C0-659EB0C06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0375" y="2819400"/>
            <a:ext cx="5616143" cy="358139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0396E48A-6866-6F97-AEAA-1033F86067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9" y="2263"/>
            <a:ext cx="12198350" cy="68643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1072" y="6455664"/>
            <a:ext cx="9223248" cy="10972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1536" y="6321552"/>
            <a:ext cx="304800" cy="1371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99704" y="326136"/>
            <a:ext cx="3599688" cy="29260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14272" y="6211823"/>
            <a:ext cx="374903" cy="112776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489707" y="6272276"/>
            <a:ext cx="9272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59570" algn="l"/>
              </a:tabLst>
            </a:pPr>
            <a:r>
              <a:rPr sz="1200" u="sng" dirty="0">
                <a:solidFill>
                  <a:srgbClr val="7B1C36"/>
                </a:solidFill>
                <a:uFill>
                  <a:solidFill>
                    <a:srgbClr val="93002B"/>
                  </a:solidFill>
                </a:uFill>
                <a:latin typeface="Trebuchet MS"/>
                <a:cs typeface="Trebuchet MS"/>
              </a:rPr>
              <a:t>	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3174825" y="994409"/>
            <a:ext cx="5794375" cy="4103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050"/>
              </a:lnSpc>
              <a:spcBef>
                <a:spcPts val="100"/>
              </a:spcBef>
            </a:pPr>
            <a:r>
              <a:rPr lang="es-MX" sz="2800" dirty="0"/>
              <a:t>DIFUSIÓN NORMATIVA</a:t>
            </a:r>
            <a:endParaRPr sz="2900" dirty="0">
              <a:latin typeface="Trebuchet MS"/>
              <a:cs typeface="Trebuchet MS"/>
            </a:endParaRPr>
          </a:p>
        </p:txBody>
      </p:sp>
      <p:sp>
        <p:nvSpPr>
          <p:cNvPr id="63" name="Marcador de contenido 2">
            <a:extLst>
              <a:ext uri="{FF2B5EF4-FFF2-40B4-BE49-F238E27FC236}">
                <a16:creationId xmlns:a16="http://schemas.microsoft.com/office/drawing/2014/main" id="{41056C7D-3E3C-6A42-3B32-C24BD9BE1F49}"/>
              </a:ext>
            </a:extLst>
          </p:cNvPr>
          <p:cNvSpPr txBox="1">
            <a:spLocks/>
          </p:cNvSpPr>
          <p:nvPr/>
        </p:nvSpPr>
        <p:spPr>
          <a:xfrm>
            <a:off x="565177" y="1951668"/>
            <a:ext cx="11013670" cy="35345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defPPr>
              <a:defRPr lang="es-ES"/>
            </a:defPPr>
            <a:lvl1pPr marL="0">
              <a:defRPr sz="1800" b="0" i="0">
                <a:solidFill>
                  <a:srgbClr val="1E1E1E"/>
                </a:solidFill>
                <a:latin typeface="Arial MT"/>
                <a:ea typeface="+mn-ea"/>
                <a:cs typeface="Arial MT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000" dirty="0"/>
              <a:t>Difundir entre todo el personal adscrito al plantel la normatividad aplicable, entre la que se encuentra:</a:t>
            </a:r>
          </a:p>
          <a:p>
            <a:pPr algn="ctr"/>
            <a:endParaRPr lang="es-MX" sz="2000" dirty="0"/>
          </a:p>
          <a:p>
            <a:pPr algn="ctr"/>
            <a:r>
              <a:rPr lang="es-MX" sz="2000" dirty="0">
                <a:hlinkClick r:id="rId7"/>
              </a:rPr>
              <a:t>Ley General de Educación.</a:t>
            </a:r>
            <a:endParaRPr lang="es-MX" sz="2000" dirty="0"/>
          </a:p>
          <a:p>
            <a:pPr algn="ctr"/>
            <a:r>
              <a:rPr lang="es-MX" sz="2000" dirty="0">
                <a:hlinkClick r:id="rId8"/>
              </a:rPr>
              <a:t>Código de Conducta de la Autoridad Educativa Federal en la Ciudad de México.</a:t>
            </a:r>
            <a:endParaRPr lang="es-MX" sz="2000" dirty="0"/>
          </a:p>
          <a:p>
            <a:pPr algn="ctr"/>
            <a:r>
              <a:rPr lang="es-MX" sz="2000" dirty="0">
                <a:hlinkClick r:id="rId9"/>
              </a:rPr>
              <a:t>Guía Operativa para la Organización y Funcionamiento de los Servicios de Educación Básica.</a:t>
            </a:r>
            <a:endParaRPr lang="es-MX" sz="2000" dirty="0"/>
          </a:p>
          <a:p>
            <a:pPr algn="ctr"/>
            <a:r>
              <a:rPr lang="es-MX" sz="2000" dirty="0">
                <a:hlinkClick r:id="rId10"/>
              </a:rPr>
              <a:t>Recomendaciones para la Convivencia Libre de Violencia hacia el Personal Directivo y Docente.</a:t>
            </a:r>
            <a:endParaRPr lang="es-MX" sz="2000" dirty="0"/>
          </a:p>
          <a:p>
            <a:pPr algn="ctr"/>
            <a:r>
              <a:rPr lang="es-MX" sz="2000" dirty="0">
                <a:hlinkClick r:id="rId11"/>
              </a:rPr>
              <a:t>Ley General de Responsabilidades Administrativas.</a:t>
            </a:r>
            <a:endParaRPr lang="es-MX" sz="2000" dirty="0"/>
          </a:p>
          <a:p>
            <a:pPr algn="ctr"/>
            <a:endParaRPr lang="es-MX" sz="2000" dirty="0"/>
          </a:p>
          <a:p>
            <a:pPr algn="ctr"/>
            <a:r>
              <a:rPr lang="es-MX" sz="2000" dirty="0"/>
              <a:t>Demás disposiciones aplicables al servicio público.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3">
            <a:extLst>
              <a:ext uri="{FF2B5EF4-FFF2-40B4-BE49-F238E27FC236}">
                <a16:creationId xmlns:a16="http://schemas.microsoft.com/office/drawing/2014/main" id="{46411266-42EC-8E75-1D0E-1F0777E150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9" y="2263"/>
            <a:ext cx="12198350" cy="68643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952" y="5903976"/>
            <a:ext cx="1551431" cy="7680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81072" y="6455664"/>
            <a:ext cx="9217152" cy="10972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505711" y="6211823"/>
            <a:ext cx="421005" cy="247015"/>
            <a:chOff x="1505711" y="6211823"/>
            <a:chExt cx="421005" cy="247015"/>
          </a:xfrm>
        </p:grpSpPr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21535" y="6321551"/>
              <a:ext cx="304800" cy="137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05711" y="6211823"/>
              <a:ext cx="289560" cy="9753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18392" y="341375"/>
            <a:ext cx="381000" cy="25907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35222" y="6339078"/>
            <a:ext cx="695325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175" dirty="0">
                <a:solidFill>
                  <a:srgbClr val="971F3F"/>
                </a:solidFill>
                <a:latin typeface="Arial MT"/>
                <a:cs typeface="Arial MT"/>
              </a:rPr>
              <a:t>Maza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8418" y="6278626"/>
            <a:ext cx="693420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20" dirty="0">
                <a:solidFill>
                  <a:srgbClr val="951F3F"/>
                </a:solidFill>
                <a:latin typeface="Arial MT"/>
                <a:cs typeface="Arial MT"/>
              </a:rPr>
              <a:t>M</a:t>
            </a:r>
            <a:r>
              <a:rPr sz="1050" spc="35" dirty="0">
                <a:solidFill>
                  <a:srgbClr val="951F3F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77002A"/>
                </a:solidFill>
                <a:latin typeface="Arial MT"/>
                <a:cs typeface="Arial MT"/>
              </a:rPr>
              <a:t>argari</a:t>
            </a:r>
            <a:r>
              <a:rPr sz="1150" spc="340" dirty="0">
                <a:solidFill>
                  <a:srgbClr val="77002A"/>
                </a:solidFill>
                <a:latin typeface="Arial MT"/>
                <a:cs typeface="Arial MT"/>
              </a:rPr>
              <a:t> </a:t>
            </a:r>
            <a:r>
              <a:rPr sz="1150" spc="-50" dirty="0">
                <a:solidFill>
                  <a:srgbClr val="7C1534"/>
                </a:solidFill>
                <a:latin typeface="Arial MT"/>
                <a:cs typeface="Arial MT"/>
              </a:rPr>
              <a:t>a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6800" y="874223"/>
            <a:ext cx="9677400" cy="10438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7230">
              <a:lnSpc>
                <a:spcPct val="100000"/>
              </a:lnSpc>
              <a:spcBef>
                <a:spcPts val="100"/>
              </a:spcBef>
            </a:pPr>
            <a:r>
              <a:rPr lang="es-MX" sz="3350" spc="290" dirty="0">
                <a:solidFill>
                  <a:srgbClr val="5697C1"/>
                </a:solidFill>
                <a:latin typeface="Arial MT"/>
              </a:rPr>
              <a:t>ACCIONES DE SENSIBILIZACIÓN Y FORTALECIMIENTO INSTITUCIONAL</a:t>
            </a:r>
            <a:endParaRPr sz="3350" spc="290" dirty="0">
              <a:solidFill>
                <a:srgbClr val="5697C1"/>
              </a:solidFill>
              <a:latin typeface="Arial MT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A57AC54-8584-65C0-000A-035C09F9261B}"/>
              </a:ext>
            </a:extLst>
          </p:cNvPr>
          <p:cNvSpPr txBox="1"/>
          <p:nvPr/>
        </p:nvSpPr>
        <p:spPr>
          <a:xfrm>
            <a:off x="904164" y="2482004"/>
            <a:ext cx="10210800" cy="2092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Bef>
                <a:spcPts val="1000"/>
              </a:spcBef>
            </a:pPr>
            <a:r>
              <a:rPr lang="en-US" sz="2400" b="0" i="0" dirty="0" err="1">
                <a:effectLst/>
              </a:rPr>
              <a:t>Promover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acciones</a:t>
            </a:r>
            <a:r>
              <a:rPr lang="en-US" sz="2400" b="0" i="0" dirty="0">
                <a:effectLst/>
              </a:rPr>
              <a:t> de </a:t>
            </a:r>
            <a:r>
              <a:rPr lang="en-US" sz="2400" b="0" i="0" dirty="0" err="1">
                <a:effectLst/>
              </a:rPr>
              <a:t>sensibilización</a:t>
            </a:r>
            <a:r>
              <a:rPr lang="en-US" sz="2400" b="0" i="0" dirty="0">
                <a:effectLst/>
              </a:rPr>
              <a:t> y </a:t>
            </a:r>
            <a:r>
              <a:rPr lang="en-US" sz="2400" b="0" i="0" dirty="0" err="1">
                <a:effectLst/>
              </a:rPr>
              <a:t>fortalecimiento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institucional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mediante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cursos</a:t>
            </a:r>
            <a:r>
              <a:rPr lang="en-US" sz="2400" b="0" i="0" dirty="0">
                <a:effectLst/>
              </a:rPr>
              <a:t>, </a:t>
            </a:r>
            <a:r>
              <a:rPr lang="en-US" sz="2400" b="0" i="0" dirty="0" err="1">
                <a:effectLst/>
              </a:rPr>
              <a:t>capacitaciones</a:t>
            </a:r>
            <a:r>
              <a:rPr lang="en-US" sz="2400" b="0" i="0" dirty="0">
                <a:effectLst/>
              </a:rPr>
              <a:t>, </a:t>
            </a:r>
            <a:r>
              <a:rPr lang="en-US" sz="2400" b="0" i="0" dirty="0" err="1">
                <a:effectLst/>
              </a:rPr>
              <a:t>talleres</a:t>
            </a:r>
            <a:r>
              <a:rPr lang="en-US" sz="2400" b="0" i="0" dirty="0">
                <a:effectLst/>
              </a:rPr>
              <a:t>, </a:t>
            </a:r>
            <a:r>
              <a:rPr lang="en-US" sz="2400" b="0" i="0" dirty="0" err="1">
                <a:effectLst/>
              </a:rPr>
              <a:t>reuniones</a:t>
            </a:r>
            <a:r>
              <a:rPr lang="en-US" sz="2400" b="0" i="0" dirty="0">
                <a:effectLst/>
              </a:rPr>
              <a:t> de </a:t>
            </a:r>
            <a:r>
              <a:rPr lang="en-US" sz="2400" b="0" i="0" dirty="0" err="1">
                <a:effectLst/>
              </a:rPr>
              <a:t>trabajo</a:t>
            </a:r>
            <a:r>
              <a:rPr lang="en-US" sz="2400" b="0" i="0" dirty="0">
                <a:effectLst/>
              </a:rPr>
              <a:t>, </a:t>
            </a:r>
            <a:r>
              <a:rPr lang="en-US" sz="2400" b="0" i="0" dirty="0" err="1">
                <a:effectLst/>
              </a:rPr>
              <a:t>sesiones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informativas</a:t>
            </a:r>
            <a:r>
              <a:rPr lang="en-US" sz="2400" b="0" i="0" dirty="0">
                <a:effectLst/>
              </a:rPr>
              <a:t>, </a:t>
            </a:r>
            <a:r>
              <a:rPr lang="en-US" sz="2400" b="0" i="0" dirty="0" err="1">
                <a:effectLst/>
              </a:rPr>
              <a:t>difusión</a:t>
            </a:r>
            <a:r>
              <a:rPr lang="en-US" sz="2400" b="0" i="0" dirty="0">
                <a:effectLst/>
              </a:rPr>
              <a:t> de circulares y </a:t>
            </a:r>
            <a:r>
              <a:rPr lang="en-US" sz="2400" b="0" i="0" dirty="0" err="1">
                <a:effectLst/>
              </a:rPr>
              <a:t>materiales</a:t>
            </a:r>
            <a:r>
              <a:rPr lang="en-US" sz="2400" b="0" i="0" dirty="0">
                <a:effectLst/>
              </a:rPr>
              <a:t> de </a:t>
            </a:r>
            <a:r>
              <a:rPr lang="en-US" sz="2400" b="0" i="0" dirty="0" err="1">
                <a:effectLst/>
              </a:rPr>
              <a:t>apoyo</a:t>
            </a:r>
            <a:r>
              <a:rPr lang="en-US" sz="2400" b="0" i="0" dirty="0">
                <a:effectLst/>
              </a:rPr>
              <a:t>, </a:t>
            </a:r>
            <a:r>
              <a:rPr lang="en-US" sz="2400" b="0" i="0" dirty="0" err="1">
                <a:effectLst/>
              </a:rPr>
              <a:t>así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como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cualquier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otro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mecanismo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que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contribuya</a:t>
            </a:r>
            <a:r>
              <a:rPr lang="en-US" sz="2400" b="0" i="0" dirty="0">
                <a:effectLst/>
              </a:rPr>
              <a:t> a </a:t>
            </a:r>
            <a:r>
              <a:rPr lang="en-US" sz="2400" b="0" i="0" dirty="0" err="1">
                <a:effectLst/>
              </a:rPr>
              <a:t>prevenir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conductas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contrarias</a:t>
            </a:r>
            <a:r>
              <a:rPr lang="en-US" sz="2400" b="0" i="0" dirty="0">
                <a:effectLst/>
              </a:rPr>
              <a:t> a la </a:t>
            </a:r>
            <a:r>
              <a:rPr lang="en-US" sz="2400" b="0" i="0" dirty="0" err="1">
                <a:effectLst/>
              </a:rPr>
              <a:t>normatividad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vigente</a:t>
            </a:r>
            <a:r>
              <a:rPr lang="en-US" sz="2400" b="0" i="0" dirty="0">
                <a:effectLst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object 3">
            <a:extLst>
              <a:ext uri="{FF2B5EF4-FFF2-40B4-BE49-F238E27FC236}">
                <a16:creationId xmlns:a16="http://schemas.microsoft.com/office/drawing/2014/main" id="{3F79C437-1D10-8C38-3708-6506B2D50B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9" y="2263"/>
            <a:ext cx="12198350" cy="68643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1072" y="6449567"/>
            <a:ext cx="9223248" cy="11582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46464" y="4876800"/>
            <a:ext cx="859536" cy="15788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15113" y="5253482"/>
            <a:ext cx="929639" cy="10789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7952" y="5903976"/>
            <a:ext cx="862584" cy="7680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99704" y="320040"/>
            <a:ext cx="3599688" cy="3048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5389" y="5857494"/>
            <a:ext cx="1093470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5925" algn="l"/>
              </a:tabLst>
            </a:pPr>
            <a:r>
              <a:rPr sz="2450" spc="114" dirty="0">
                <a:solidFill>
                  <a:srgbClr val="464646"/>
                </a:solidFill>
                <a:latin typeface="Arial MT"/>
                <a:cs typeface="Arial MT"/>
              </a:rPr>
              <a:t>,</a:t>
            </a:r>
            <a:r>
              <a:rPr sz="2450" dirty="0">
                <a:solidFill>
                  <a:srgbClr val="464646"/>
                </a:solidFill>
                <a:latin typeface="Arial MT"/>
                <a:cs typeface="Arial MT"/>
              </a:rPr>
              <a:t>	</a:t>
            </a:r>
            <a:r>
              <a:rPr sz="2450" spc="-50" dirty="0">
                <a:solidFill>
                  <a:srgbClr val="BD9A3F"/>
                </a:solidFill>
                <a:latin typeface="Arial MT"/>
                <a:cs typeface="Arial MT"/>
              </a:rPr>
              <a:t>2026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6752" y="6160261"/>
            <a:ext cx="4064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20" dirty="0">
                <a:solidFill>
                  <a:srgbClr val="B18C3B"/>
                </a:solidFill>
                <a:latin typeface="Arial MT"/>
                <a:cs typeface="Arial MT"/>
              </a:rPr>
              <a:t>ano</a:t>
            </a:r>
            <a:r>
              <a:rPr sz="1050" spc="-50" dirty="0">
                <a:solidFill>
                  <a:srgbClr val="B18C3B"/>
                </a:solidFill>
                <a:latin typeface="Arial MT"/>
                <a:cs typeface="Arial MT"/>
              </a:rPr>
              <a:t> </a:t>
            </a:r>
            <a:r>
              <a:rPr sz="1050" spc="-40" dirty="0">
                <a:solidFill>
                  <a:srgbClr val="AC8001"/>
                </a:solidFill>
                <a:latin typeface="Arial MT"/>
                <a:cs typeface="Arial MT"/>
              </a:rPr>
              <a:t>de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9610" y="6272276"/>
            <a:ext cx="687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5001F"/>
                </a:solidFill>
                <a:latin typeface="Cambria"/>
                <a:cs typeface="Cambria"/>
              </a:rPr>
              <a:t>Margarita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9815" y="6332473"/>
            <a:ext cx="694690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110" dirty="0">
                <a:solidFill>
                  <a:srgbClr val="951F3F"/>
                </a:solidFill>
                <a:latin typeface="Cambria"/>
                <a:cs typeface="Cambria"/>
              </a:rPr>
              <a:t>Maza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096000" y="799653"/>
            <a:ext cx="5767816" cy="21287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329"/>
              </a:lnSpc>
              <a:spcBef>
                <a:spcPts val="100"/>
              </a:spcBef>
            </a:pPr>
            <a:r>
              <a:rPr lang="es-MX" sz="3150" b="0" spc="65" dirty="0">
                <a:solidFill>
                  <a:srgbClr val="3193D4"/>
                </a:solidFill>
                <a:latin typeface="Arial MT"/>
              </a:rPr>
              <a:t>VUI 0614 "Estrategias Comunitarias para la Construcción de Espacios Libres de Violencia".</a:t>
            </a:r>
            <a:br>
              <a:rPr lang="es-MX" sz="3150" b="0" spc="65" dirty="0">
                <a:solidFill>
                  <a:srgbClr val="3193D4"/>
                </a:solidFill>
                <a:latin typeface="Arial MT"/>
              </a:rPr>
            </a:br>
            <a:endParaRPr sz="3150" b="0" spc="65" dirty="0">
              <a:solidFill>
                <a:srgbClr val="3193D4"/>
              </a:solidFill>
              <a:latin typeface="Arial MT"/>
            </a:endParaRPr>
          </a:p>
        </p:txBody>
      </p:sp>
      <p:sp>
        <p:nvSpPr>
          <p:cNvPr id="16" name="Subtítulo 10">
            <a:extLst>
              <a:ext uri="{FF2B5EF4-FFF2-40B4-BE49-F238E27FC236}">
                <a16:creationId xmlns:a16="http://schemas.microsoft.com/office/drawing/2014/main" id="{3AC11823-8D6B-1E7C-C294-F6D41B078B3A}"/>
              </a:ext>
            </a:extLst>
          </p:cNvPr>
          <p:cNvSpPr txBox="1">
            <a:spLocks/>
          </p:cNvSpPr>
          <p:nvPr/>
        </p:nvSpPr>
        <p:spPr>
          <a:xfrm>
            <a:off x="5562600" y="2624144"/>
            <a:ext cx="6471968" cy="221599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>
            <a:defPPr>
              <a:defRPr lang="es-ES"/>
            </a:defPPr>
            <a:lvl1pPr marL="0">
              <a:defRPr sz="1800" b="0" i="0">
                <a:solidFill>
                  <a:srgbClr val="1E1E1E"/>
                </a:solidFill>
                <a:latin typeface="Arial MT"/>
                <a:ea typeface="+mn-ea"/>
                <a:cs typeface="Arial MT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dirty="0"/>
              <a:t>Que los alumnos de la escuela alcancen los niveles de logro propuestos en el plan de estudios 2022 de la NEM. </a:t>
            </a:r>
          </a:p>
          <a:p>
            <a:pPr algn="ctr"/>
            <a:r>
              <a:rPr lang="es-ES" sz="2400" dirty="0"/>
              <a:t>Para el desarrollo integral de los futuros ciudadanos, quienes responderán ante las necesidades que la sociedad demanda. 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9C1AEC38-0B57-5115-7D57-6A2B7250A8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77446"/>
            <a:ext cx="5767816" cy="5403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3">
            <a:extLst>
              <a:ext uri="{FF2B5EF4-FFF2-40B4-BE49-F238E27FC236}">
                <a16:creationId xmlns:a16="http://schemas.microsoft.com/office/drawing/2014/main" id="{1FF32FB2-9EBC-CAD0-45A9-AE212015504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9" y="2263"/>
            <a:ext cx="12198350" cy="68643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1072" y="6455664"/>
            <a:ext cx="9223248" cy="1097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87583" y="4663440"/>
            <a:ext cx="633983" cy="46329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0482071" y="5379720"/>
            <a:ext cx="475615" cy="24765"/>
            <a:chOff x="10482071" y="5379720"/>
            <a:chExt cx="475615" cy="24765"/>
          </a:xfrm>
        </p:grpSpPr>
        <p:sp>
          <p:nvSpPr>
            <p:cNvPr id="6" name="object 6"/>
            <p:cNvSpPr/>
            <p:nvPr/>
          </p:nvSpPr>
          <p:spPr>
            <a:xfrm>
              <a:off x="10482071" y="5399532"/>
              <a:ext cx="475615" cy="0"/>
            </a:xfrm>
            <a:custGeom>
              <a:avLst/>
              <a:gdLst/>
              <a:ahLst/>
              <a:cxnLst/>
              <a:rect l="l" t="t" r="r" b="b"/>
              <a:pathLst>
                <a:path w="475615">
                  <a:moveTo>
                    <a:pt x="0" y="0"/>
                  </a:moveTo>
                  <a:lnTo>
                    <a:pt x="475488" y="0"/>
                  </a:lnTo>
                </a:path>
              </a:pathLst>
            </a:custGeom>
            <a:ln w="9144">
              <a:solidFill>
                <a:srgbClr val="606B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482071" y="5384292"/>
              <a:ext cx="469900" cy="0"/>
            </a:xfrm>
            <a:custGeom>
              <a:avLst/>
              <a:gdLst/>
              <a:ahLst/>
              <a:cxnLst/>
              <a:rect l="l" t="t" r="r" b="b"/>
              <a:pathLst>
                <a:path w="469900">
                  <a:moveTo>
                    <a:pt x="0" y="0"/>
                  </a:moveTo>
                  <a:lnTo>
                    <a:pt x="469392" y="0"/>
                  </a:lnTo>
                </a:path>
              </a:pathLst>
            </a:custGeom>
            <a:ln w="9144">
              <a:solidFill>
                <a:srgbClr val="606B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482071" y="4378452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5">
                <a:moveTo>
                  <a:pt x="0" y="0"/>
                </a:moveTo>
                <a:lnTo>
                  <a:pt x="475488" y="0"/>
                </a:lnTo>
              </a:path>
            </a:pathLst>
          </a:custGeom>
          <a:ln w="15240">
            <a:solidFill>
              <a:srgbClr val="606B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7952" y="5903976"/>
            <a:ext cx="862584" cy="768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21536" y="6321552"/>
            <a:ext cx="304800" cy="1371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99704" y="326136"/>
            <a:ext cx="3599688" cy="29565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14272" y="6211823"/>
            <a:ext cx="374903" cy="11277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45897" y="829516"/>
            <a:ext cx="10469982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3200" dirty="0"/>
              <a:t>VUI 0820 Estrategia comunitaria para la construcción de espacios escolares libres de violencia y Jornada Nacional de Concientización sobre la gravedad del abuso sexual y el maltrato infantil.</a:t>
            </a:r>
            <a:endParaRPr sz="3100" dirty="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70430" y="3454119"/>
            <a:ext cx="7851140" cy="20800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s-MX" sz="2000" b="1" dirty="0"/>
              <a:t>Implementar y dar puntual seguimiento a las acciones técnico pedagógicas implementadas en los planteles educativos</a:t>
            </a:r>
            <a:r>
              <a:rPr lang="es-MX" sz="2000" dirty="0"/>
              <a:t>, así como mantener la evidencia documental que permita acreditar las acciones de difusión, sensibilización y seguimiento realizadas.</a:t>
            </a:r>
          </a:p>
          <a:p>
            <a:pPr algn="ctr"/>
            <a:r>
              <a:rPr lang="es-MX" sz="2000" dirty="0"/>
              <a:t>Esta información sea </a:t>
            </a:r>
            <a:r>
              <a:rPr lang="es-MX" sz="2000" b="1" dirty="0"/>
              <a:t>dada a conocer a todo el personal del centro de trabajo</a:t>
            </a:r>
            <a:r>
              <a:rPr lang="es-MX" sz="2000" dirty="0"/>
              <a:t>, </a:t>
            </a:r>
            <a:r>
              <a:rPr lang="es-MX" sz="2000" i="1" u="sng" dirty="0"/>
              <a:t>dejando constancia de su difusión.</a:t>
            </a:r>
          </a:p>
          <a:p>
            <a:pPr marL="13335">
              <a:lnSpc>
                <a:spcPct val="100000"/>
              </a:lnSpc>
              <a:spcBef>
                <a:spcPts val="100"/>
              </a:spcBef>
            </a:pPr>
            <a:endParaRPr sz="1350" dirty="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89707" y="6272276"/>
            <a:ext cx="92729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59570" algn="l"/>
              </a:tabLst>
            </a:pPr>
            <a:r>
              <a:rPr sz="1200" u="sng" dirty="0">
                <a:solidFill>
                  <a:srgbClr val="7B1C36"/>
                </a:solidFill>
                <a:uFill>
                  <a:solidFill>
                    <a:srgbClr val="93002B"/>
                  </a:solidFill>
                </a:uFill>
                <a:latin typeface="Trebuchet MS"/>
                <a:cs typeface="Trebuchet MS"/>
              </a:rPr>
              <a:t>	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-3175"/>
            <a:ext cx="12198350" cy="6864350"/>
            <a:chOff x="-3175" y="-3175"/>
            <a:chExt cx="12198350" cy="6864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175" y="-3175"/>
              <a:ext cx="12198350" cy="68643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6180" y="281884"/>
              <a:ext cx="3665622" cy="36512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59768" y="1295432"/>
            <a:ext cx="6236970" cy="9829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ctr">
              <a:lnSpc>
                <a:spcPts val="3700"/>
              </a:lnSpc>
              <a:spcBef>
                <a:spcPts val="340"/>
              </a:spcBef>
            </a:pPr>
            <a:r>
              <a:rPr dirty="0"/>
              <a:t>Responder</a:t>
            </a:r>
            <a:r>
              <a:rPr spc="-35" dirty="0"/>
              <a:t> </a:t>
            </a:r>
            <a:r>
              <a:rPr dirty="0"/>
              <a:t>exactamente</a:t>
            </a:r>
            <a:r>
              <a:rPr spc="-30" dirty="0"/>
              <a:t> </a:t>
            </a:r>
            <a:r>
              <a:rPr spc="-25" dirty="0"/>
              <a:t>lo </a:t>
            </a:r>
            <a:r>
              <a:rPr spc="-10" dirty="0"/>
              <a:t>requerido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b="1" dirty="0"/>
              <a:t>Conteste</a:t>
            </a:r>
            <a:r>
              <a:rPr b="1" spc="-25" dirty="0"/>
              <a:t> </a:t>
            </a:r>
            <a:r>
              <a:rPr b="1" dirty="0"/>
              <a:t>cada</a:t>
            </a:r>
            <a:r>
              <a:rPr b="1" spc="-10" dirty="0"/>
              <a:t> </a:t>
            </a:r>
            <a:r>
              <a:rPr b="1" dirty="0"/>
              <a:t>numeral</a:t>
            </a:r>
            <a:r>
              <a:rPr b="1" spc="-15" dirty="0"/>
              <a:t> </a:t>
            </a:r>
            <a:r>
              <a:rPr b="1" dirty="0"/>
              <a:t>o</a:t>
            </a:r>
            <a:r>
              <a:rPr b="1" spc="-10" dirty="0"/>
              <a:t> </a:t>
            </a:r>
            <a:r>
              <a:rPr b="1" dirty="0"/>
              <a:t>punto</a:t>
            </a:r>
            <a:r>
              <a:rPr b="1" spc="-15" dirty="0"/>
              <a:t> </a:t>
            </a:r>
            <a:r>
              <a:rPr b="1" dirty="0"/>
              <a:t>del</a:t>
            </a:r>
            <a:r>
              <a:rPr b="1" spc="-10" dirty="0"/>
              <a:t> </a:t>
            </a:r>
            <a:r>
              <a:rPr b="1" dirty="0"/>
              <a:t>requerimiento</a:t>
            </a:r>
            <a:r>
              <a:rPr b="1" spc="-15" dirty="0"/>
              <a:t> </a:t>
            </a:r>
            <a:r>
              <a:rPr b="1" dirty="0"/>
              <a:t>en</a:t>
            </a:r>
            <a:r>
              <a:rPr b="1" spc="-10" dirty="0"/>
              <a:t> </a:t>
            </a:r>
            <a:r>
              <a:rPr b="1" spc="-25" dirty="0"/>
              <a:t>el </a:t>
            </a:r>
            <a:r>
              <a:rPr b="1" dirty="0"/>
              <a:t>mismo</a:t>
            </a:r>
            <a:r>
              <a:rPr b="1" spc="-10" dirty="0"/>
              <a:t> </a:t>
            </a:r>
            <a:r>
              <a:rPr b="1" dirty="0"/>
              <a:t>orden</a:t>
            </a:r>
            <a:r>
              <a:rPr b="1" spc="-10" dirty="0"/>
              <a:t> </a:t>
            </a:r>
            <a:r>
              <a:rPr b="1" dirty="0"/>
              <a:t>en</a:t>
            </a:r>
            <a:r>
              <a:rPr b="1" spc="-10" dirty="0"/>
              <a:t> </a:t>
            </a:r>
            <a:r>
              <a:rPr b="1" dirty="0"/>
              <a:t>que</a:t>
            </a:r>
            <a:r>
              <a:rPr b="1" spc="-10" dirty="0"/>
              <a:t> </a:t>
            </a:r>
            <a:r>
              <a:rPr b="1" dirty="0"/>
              <a:t>fue</a:t>
            </a:r>
            <a:r>
              <a:rPr b="1" spc="-5" dirty="0"/>
              <a:t> </a:t>
            </a:r>
            <a:r>
              <a:rPr b="1" spc="-10" dirty="0"/>
              <a:t>formulado.</a:t>
            </a:r>
          </a:p>
          <a:p>
            <a:pPr marL="12700" marR="68580">
              <a:lnSpc>
                <a:spcPts val="2100"/>
              </a:lnSpc>
              <a:spcBef>
                <a:spcPts val="800"/>
              </a:spcBef>
            </a:pPr>
            <a:r>
              <a:rPr b="1" dirty="0"/>
              <a:t>Relacione</a:t>
            </a:r>
            <a:r>
              <a:rPr b="1" spc="-15" dirty="0"/>
              <a:t> </a:t>
            </a:r>
            <a:r>
              <a:rPr b="1" dirty="0"/>
              <a:t>respuesta,</a:t>
            </a:r>
            <a:r>
              <a:rPr b="1" spc="-20" dirty="0"/>
              <a:t> </a:t>
            </a:r>
            <a:r>
              <a:rPr b="1" dirty="0"/>
              <a:t>evidencia</a:t>
            </a:r>
            <a:r>
              <a:rPr b="1" spc="-15" dirty="0"/>
              <a:t> </a:t>
            </a:r>
            <a:r>
              <a:rPr b="1" dirty="0"/>
              <a:t>y</a:t>
            </a:r>
            <a:r>
              <a:rPr b="1" spc="-20" dirty="0"/>
              <a:t> </a:t>
            </a:r>
            <a:r>
              <a:rPr b="1" dirty="0"/>
              <a:t>número</a:t>
            </a:r>
            <a:r>
              <a:rPr b="1" spc="-15" dirty="0"/>
              <a:t> </a:t>
            </a:r>
            <a:r>
              <a:rPr b="1" dirty="0"/>
              <a:t>de</a:t>
            </a:r>
            <a:r>
              <a:rPr b="1" spc="-15" dirty="0"/>
              <a:t> </a:t>
            </a:r>
            <a:r>
              <a:rPr b="1" dirty="0"/>
              <a:t>anexo</a:t>
            </a:r>
            <a:r>
              <a:rPr b="1" spc="-15" dirty="0"/>
              <a:t> </a:t>
            </a:r>
            <a:r>
              <a:rPr b="1" spc="-25" dirty="0"/>
              <a:t>de </a:t>
            </a:r>
            <a:r>
              <a:rPr b="1" dirty="0"/>
              <a:t>manera</a:t>
            </a:r>
            <a:r>
              <a:rPr b="1" spc="-10" dirty="0"/>
              <a:t> clara.</a:t>
            </a:r>
          </a:p>
          <a:p>
            <a:pPr marL="12700" marR="132715">
              <a:lnSpc>
                <a:spcPts val="2100"/>
              </a:lnSpc>
              <a:spcBef>
                <a:spcPts val="800"/>
              </a:spcBef>
            </a:pPr>
            <a:r>
              <a:rPr b="1" dirty="0"/>
              <a:t>No</a:t>
            </a:r>
            <a:r>
              <a:rPr b="1" spc="-20" dirty="0"/>
              <a:t> </a:t>
            </a:r>
            <a:r>
              <a:rPr b="1" dirty="0"/>
              <a:t>omita</a:t>
            </a:r>
            <a:r>
              <a:rPr b="1" spc="-15" dirty="0"/>
              <a:t> </a:t>
            </a:r>
            <a:r>
              <a:rPr b="1" dirty="0"/>
              <a:t>apartados</a:t>
            </a:r>
            <a:r>
              <a:rPr b="1" spc="-20" dirty="0"/>
              <a:t> </a:t>
            </a:r>
            <a:r>
              <a:rPr b="1" dirty="0"/>
              <a:t>ni</a:t>
            </a:r>
            <a:r>
              <a:rPr b="1" spc="-20" dirty="0"/>
              <a:t> </a:t>
            </a:r>
            <a:r>
              <a:rPr b="1" dirty="0"/>
              <a:t>remita</a:t>
            </a:r>
            <a:r>
              <a:rPr b="1" spc="-15" dirty="0"/>
              <a:t> </a:t>
            </a:r>
            <a:r>
              <a:rPr b="1" dirty="0"/>
              <a:t>documentos</a:t>
            </a:r>
            <a:r>
              <a:rPr b="1" spc="-20" dirty="0"/>
              <a:t> </a:t>
            </a:r>
            <a:r>
              <a:rPr b="1" dirty="0"/>
              <a:t>sin</a:t>
            </a:r>
            <a:r>
              <a:rPr b="1" spc="-20" dirty="0"/>
              <a:t> </a:t>
            </a:r>
            <a:r>
              <a:rPr b="1" spc="-10" dirty="0"/>
              <a:t>explicar </a:t>
            </a:r>
            <a:r>
              <a:rPr b="1" dirty="0"/>
              <a:t>qué </a:t>
            </a:r>
            <a:r>
              <a:rPr b="1" spc="-10" dirty="0"/>
              <a:t>acreditan.</a:t>
            </a:r>
          </a:p>
          <a:p>
            <a:pPr marL="12700" marR="55880">
              <a:lnSpc>
                <a:spcPts val="2100"/>
              </a:lnSpc>
              <a:spcBef>
                <a:spcPts val="800"/>
              </a:spcBef>
            </a:pPr>
            <a:r>
              <a:rPr b="1" dirty="0"/>
              <a:t>Verifique</a:t>
            </a:r>
            <a:r>
              <a:rPr b="1" spc="-35" dirty="0"/>
              <a:t> </a:t>
            </a:r>
            <a:r>
              <a:rPr b="1" dirty="0"/>
              <a:t>congruencia</a:t>
            </a:r>
            <a:r>
              <a:rPr b="1" spc="-35" dirty="0"/>
              <a:t> </a:t>
            </a:r>
            <a:r>
              <a:rPr b="1" dirty="0"/>
              <a:t>entre</a:t>
            </a:r>
            <a:r>
              <a:rPr b="1" spc="-35" dirty="0"/>
              <a:t> </a:t>
            </a:r>
            <a:r>
              <a:rPr b="1" dirty="0"/>
              <a:t>lo</a:t>
            </a:r>
            <a:r>
              <a:rPr b="1" spc="-35" dirty="0"/>
              <a:t> </a:t>
            </a:r>
            <a:r>
              <a:rPr b="1" dirty="0"/>
              <a:t>solicitado,</a:t>
            </a:r>
            <a:r>
              <a:rPr b="1" spc="-40" dirty="0"/>
              <a:t> </a:t>
            </a:r>
            <a:r>
              <a:rPr b="1" dirty="0"/>
              <a:t>lo</a:t>
            </a:r>
            <a:r>
              <a:rPr b="1" spc="-35" dirty="0"/>
              <a:t> </a:t>
            </a:r>
            <a:r>
              <a:rPr b="1" spc="-10" dirty="0"/>
              <a:t>contestado </a:t>
            </a:r>
            <a:r>
              <a:rPr b="1" dirty="0"/>
              <a:t>y</a:t>
            </a:r>
            <a:r>
              <a:rPr b="1" spc="-10" dirty="0"/>
              <a:t> </a:t>
            </a:r>
            <a:r>
              <a:rPr b="1" dirty="0"/>
              <a:t>lo </a:t>
            </a:r>
            <a:r>
              <a:rPr b="1" spc="-10" dirty="0"/>
              <a:t>anexado.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43000" y="1600200"/>
            <a:ext cx="10561320" cy="3977640"/>
            <a:chOff x="1143000" y="1600200"/>
            <a:chExt cx="10561320" cy="3977640"/>
          </a:xfrm>
        </p:grpSpPr>
        <p:sp>
          <p:nvSpPr>
            <p:cNvPr id="7" name="object 7"/>
            <p:cNvSpPr/>
            <p:nvPr/>
          </p:nvSpPr>
          <p:spPr>
            <a:xfrm>
              <a:off x="1143000" y="2423160"/>
              <a:ext cx="1508760" cy="45720"/>
            </a:xfrm>
            <a:custGeom>
              <a:avLst/>
              <a:gdLst/>
              <a:ahLst/>
              <a:cxnLst/>
              <a:rect l="l" t="t" r="r" b="b"/>
              <a:pathLst>
                <a:path w="1508760" h="45719">
                  <a:moveTo>
                    <a:pt x="15087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508760" y="45720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C19C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2359" y="1600200"/>
              <a:ext cx="4251959" cy="3977638"/>
            </a:xfrm>
            <a:prstGeom prst="rect">
              <a:avLst/>
            </a:prstGeom>
          </p:spPr>
        </p:pic>
      </p:grpSp>
      <p:sp>
        <p:nvSpPr>
          <p:cNvPr id="11" name="object 5" descr="$PPTXTitle">
            <a:extLst>
              <a:ext uri="{FF2B5EF4-FFF2-40B4-BE49-F238E27FC236}">
                <a16:creationId xmlns:a16="http://schemas.microsoft.com/office/drawing/2014/main" id="{1C9860A9-BFD7-139E-B4C2-68C0260CD98F}"/>
              </a:ext>
            </a:extLst>
          </p:cNvPr>
          <p:cNvSpPr txBox="1"/>
          <p:nvPr/>
        </p:nvSpPr>
        <p:spPr>
          <a:xfrm>
            <a:off x="1188509" y="457200"/>
            <a:ext cx="5833110" cy="59901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08585" marR="100965" indent="-1270" algn="ctr">
              <a:lnSpc>
                <a:spcPts val="3900"/>
              </a:lnSpc>
              <a:spcBef>
                <a:spcPts val="380"/>
              </a:spcBef>
            </a:pPr>
            <a:r>
              <a:rPr sz="6000" b="1" dirty="0">
                <a:solidFill>
                  <a:srgbClr val="0A3E30"/>
                </a:solidFill>
                <a:latin typeface="Arial"/>
                <a:cs typeface="Arial"/>
              </a:rPr>
              <a:t>Tips</a:t>
            </a:r>
            <a:endParaRPr sz="6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-3175"/>
            <a:ext cx="12198350" cy="6864350"/>
            <a:chOff x="-3175" y="-3175"/>
            <a:chExt cx="12198350" cy="6864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175" y="-3175"/>
              <a:ext cx="12198350" cy="68643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6180" y="281884"/>
              <a:ext cx="3665622" cy="36512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130300" y="1006029"/>
            <a:ext cx="6224905" cy="141224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320"/>
              </a:spcBef>
            </a:pPr>
            <a:r>
              <a:rPr sz="3100" dirty="0"/>
              <a:t>No</a:t>
            </a:r>
            <a:r>
              <a:rPr sz="3100" spc="-50" dirty="0"/>
              <a:t> </a:t>
            </a:r>
            <a:r>
              <a:rPr sz="3100" dirty="0"/>
              <a:t>permitir</a:t>
            </a:r>
            <a:r>
              <a:rPr sz="3100" spc="-45" dirty="0"/>
              <a:t> </a:t>
            </a:r>
            <a:r>
              <a:rPr sz="3100" dirty="0"/>
              <a:t>que</a:t>
            </a:r>
            <a:r>
              <a:rPr sz="3100" spc="-40" dirty="0"/>
              <a:t> </a:t>
            </a:r>
            <a:r>
              <a:rPr sz="3100" dirty="0"/>
              <a:t>la</a:t>
            </a:r>
            <a:r>
              <a:rPr sz="3100" spc="-155" dirty="0"/>
              <a:t> </a:t>
            </a:r>
            <a:r>
              <a:rPr sz="3100" spc="-10" dirty="0"/>
              <a:t>Asociación </a:t>
            </a:r>
            <a:r>
              <a:rPr sz="3100" dirty="0"/>
              <a:t>de</a:t>
            </a:r>
            <a:r>
              <a:rPr sz="3100" spc="-50" dirty="0"/>
              <a:t> </a:t>
            </a:r>
            <a:r>
              <a:rPr sz="3100" dirty="0"/>
              <a:t>Madres</a:t>
            </a:r>
            <a:r>
              <a:rPr sz="3100" spc="-50" dirty="0"/>
              <a:t> </a:t>
            </a:r>
            <a:r>
              <a:rPr sz="3100" dirty="0"/>
              <a:t>y</a:t>
            </a:r>
            <a:r>
              <a:rPr sz="3100" spc="-50" dirty="0"/>
              <a:t> </a:t>
            </a:r>
            <a:r>
              <a:rPr sz="3100" dirty="0"/>
              <a:t>Padres</a:t>
            </a:r>
            <a:r>
              <a:rPr sz="3100" spc="-50" dirty="0"/>
              <a:t> </a:t>
            </a:r>
            <a:r>
              <a:rPr sz="3100" spc="-10" dirty="0"/>
              <a:t>intervenga </a:t>
            </a:r>
            <a:r>
              <a:rPr sz="3100" dirty="0"/>
              <a:t>en</a:t>
            </a:r>
            <a:r>
              <a:rPr sz="3100" spc="-50" dirty="0"/>
              <a:t> </a:t>
            </a:r>
            <a:r>
              <a:rPr sz="3100" dirty="0"/>
              <a:t>asuntos</a:t>
            </a:r>
            <a:r>
              <a:rPr sz="3100" spc="-40" dirty="0"/>
              <a:t> </a:t>
            </a:r>
            <a:r>
              <a:rPr sz="3100" spc="-10" dirty="0"/>
              <a:t>laborales</a:t>
            </a:r>
            <a:endParaRPr sz="3100" dirty="0"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601980">
              <a:lnSpc>
                <a:spcPts val="2100"/>
              </a:lnSpc>
              <a:spcBef>
                <a:spcPts val="219"/>
              </a:spcBef>
            </a:pPr>
            <a:r>
              <a:rPr b="1" dirty="0"/>
              <a:t>La</a:t>
            </a:r>
            <a:r>
              <a:rPr b="1" spc="-15" dirty="0"/>
              <a:t> </a:t>
            </a:r>
            <a:r>
              <a:rPr b="1" dirty="0"/>
              <a:t>asociación</a:t>
            </a:r>
            <a:r>
              <a:rPr b="1" spc="-15" dirty="0"/>
              <a:t> </a:t>
            </a:r>
            <a:r>
              <a:rPr b="1" dirty="0"/>
              <a:t>participa</a:t>
            </a:r>
            <a:r>
              <a:rPr b="1" spc="-15" dirty="0"/>
              <a:t> </a:t>
            </a:r>
            <a:r>
              <a:rPr b="1" dirty="0"/>
              <a:t>en</a:t>
            </a:r>
            <a:r>
              <a:rPr b="1" spc="-15" dirty="0"/>
              <a:t> </a:t>
            </a:r>
            <a:r>
              <a:rPr b="1" dirty="0"/>
              <a:t>asuntos</a:t>
            </a:r>
            <a:r>
              <a:rPr b="1" spc="-20" dirty="0"/>
              <a:t> </a:t>
            </a:r>
            <a:r>
              <a:rPr b="1" dirty="0"/>
              <a:t>propios</a:t>
            </a:r>
            <a:r>
              <a:rPr b="1" spc="-15" dirty="0"/>
              <a:t> </a:t>
            </a:r>
            <a:r>
              <a:rPr b="1" dirty="0"/>
              <a:t>de</a:t>
            </a:r>
            <a:r>
              <a:rPr b="1" spc="-15" dirty="0"/>
              <a:t> </a:t>
            </a:r>
            <a:r>
              <a:rPr b="1" spc="-25" dirty="0"/>
              <a:t>su </a:t>
            </a:r>
            <a:r>
              <a:rPr b="1" dirty="0"/>
              <a:t>objeto,</a:t>
            </a:r>
            <a:r>
              <a:rPr b="1" spc="-20" dirty="0"/>
              <a:t> </a:t>
            </a:r>
            <a:r>
              <a:rPr b="1" dirty="0"/>
              <a:t>no</a:t>
            </a:r>
            <a:r>
              <a:rPr b="1" spc="-10" dirty="0"/>
              <a:t> </a:t>
            </a:r>
            <a:r>
              <a:rPr b="1" dirty="0"/>
              <a:t>en</a:t>
            </a:r>
            <a:r>
              <a:rPr b="1" spc="-10" dirty="0"/>
              <a:t> </a:t>
            </a:r>
            <a:r>
              <a:rPr b="1" dirty="0"/>
              <a:t>decisiones</a:t>
            </a:r>
            <a:r>
              <a:rPr b="1" spc="-15" dirty="0"/>
              <a:t> </a:t>
            </a:r>
            <a:r>
              <a:rPr b="1" spc="-10" dirty="0"/>
              <a:t>laborales.</a:t>
            </a:r>
          </a:p>
          <a:p>
            <a:pPr marL="12700" marR="487680">
              <a:lnSpc>
                <a:spcPts val="2100"/>
              </a:lnSpc>
              <a:spcBef>
                <a:spcPts val="800"/>
              </a:spcBef>
            </a:pPr>
            <a:r>
              <a:rPr b="1" dirty="0"/>
              <a:t>No</a:t>
            </a:r>
            <a:r>
              <a:rPr b="1" spc="-30" dirty="0"/>
              <a:t> </a:t>
            </a:r>
            <a:r>
              <a:rPr b="1" dirty="0"/>
              <a:t>puede</a:t>
            </a:r>
            <a:r>
              <a:rPr b="1" spc="-30" dirty="0"/>
              <a:t> </a:t>
            </a:r>
            <a:r>
              <a:rPr b="1" dirty="0"/>
              <a:t>determinar</a:t>
            </a:r>
            <a:r>
              <a:rPr b="1" spc="-30" dirty="0"/>
              <a:t> </a:t>
            </a:r>
            <a:r>
              <a:rPr b="1" dirty="0"/>
              <a:t>sanciones,</a:t>
            </a:r>
            <a:r>
              <a:rPr b="1" spc="-35" dirty="0"/>
              <a:t> </a:t>
            </a:r>
            <a:r>
              <a:rPr b="1" dirty="0"/>
              <a:t>permanencia</a:t>
            </a:r>
            <a:r>
              <a:rPr b="1" spc="-30" dirty="0"/>
              <a:t> </a:t>
            </a:r>
            <a:r>
              <a:rPr b="1" spc="-25" dirty="0"/>
              <a:t>del </a:t>
            </a:r>
            <a:r>
              <a:rPr b="1" dirty="0"/>
              <a:t>personal</a:t>
            </a:r>
            <a:r>
              <a:rPr b="1" spc="-15" dirty="0"/>
              <a:t> </a:t>
            </a:r>
            <a:r>
              <a:rPr b="1" dirty="0"/>
              <a:t>ni</a:t>
            </a:r>
            <a:r>
              <a:rPr b="1" spc="-15" dirty="0"/>
              <a:t> </a:t>
            </a:r>
            <a:r>
              <a:rPr b="1" dirty="0"/>
              <a:t>asignación</a:t>
            </a:r>
            <a:r>
              <a:rPr b="1" spc="-15" dirty="0"/>
              <a:t> </a:t>
            </a:r>
            <a:r>
              <a:rPr b="1" dirty="0"/>
              <a:t>de</a:t>
            </a:r>
            <a:r>
              <a:rPr b="1" spc="-10" dirty="0"/>
              <a:t> grupos.</a:t>
            </a:r>
          </a:p>
          <a:p>
            <a:pPr marL="12700" marR="5080">
              <a:lnSpc>
                <a:spcPts val="2100"/>
              </a:lnSpc>
              <a:spcBef>
                <a:spcPts val="800"/>
              </a:spcBef>
            </a:pPr>
            <a:r>
              <a:rPr b="1" dirty="0"/>
              <a:t>Sus</a:t>
            </a:r>
            <a:r>
              <a:rPr b="1" spc="-20" dirty="0"/>
              <a:t> </a:t>
            </a:r>
            <a:r>
              <a:rPr b="1" dirty="0"/>
              <a:t>acuerdos</a:t>
            </a:r>
            <a:r>
              <a:rPr b="1" spc="-15" dirty="0"/>
              <a:t> </a:t>
            </a:r>
            <a:r>
              <a:rPr b="1" dirty="0"/>
              <a:t>deben</a:t>
            </a:r>
            <a:r>
              <a:rPr b="1" spc="-15" dirty="0"/>
              <a:t> </a:t>
            </a:r>
            <a:r>
              <a:rPr b="1" dirty="0"/>
              <a:t>sujetarse</a:t>
            </a:r>
            <a:r>
              <a:rPr b="1" spc="-10" dirty="0"/>
              <a:t> </a:t>
            </a:r>
            <a:r>
              <a:rPr b="1" dirty="0"/>
              <a:t>a</a:t>
            </a:r>
            <a:r>
              <a:rPr b="1" spc="-15" dirty="0"/>
              <a:t> </a:t>
            </a:r>
            <a:r>
              <a:rPr b="1" dirty="0"/>
              <a:t>convocatoria,</a:t>
            </a:r>
            <a:r>
              <a:rPr b="1" spc="-15" dirty="0"/>
              <a:t> </a:t>
            </a:r>
            <a:r>
              <a:rPr b="1" spc="-10" dirty="0"/>
              <a:t>quórum </a:t>
            </a:r>
            <a:r>
              <a:rPr b="1" dirty="0"/>
              <a:t>y</a:t>
            </a:r>
            <a:r>
              <a:rPr b="1" spc="-10" dirty="0"/>
              <a:t> </a:t>
            </a:r>
            <a:r>
              <a:rPr b="1" dirty="0"/>
              <a:t>acta </a:t>
            </a:r>
            <a:r>
              <a:rPr b="1" spc="-10" dirty="0"/>
              <a:t>formal.</a:t>
            </a:r>
          </a:p>
          <a:p>
            <a:pPr marL="12700" marR="347980">
              <a:lnSpc>
                <a:spcPts val="2100"/>
              </a:lnSpc>
              <a:spcBef>
                <a:spcPts val="800"/>
              </a:spcBef>
            </a:pPr>
            <a:r>
              <a:rPr b="1" dirty="0"/>
              <a:t>La</a:t>
            </a:r>
            <a:r>
              <a:rPr b="1" spc="-15" dirty="0"/>
              <a:t> </a:t>
            </a:r>
            <a:r>
              <a:rPr b="1" dirty="0"/>
              <a:t>autoridad</a:t>
            </a:r>
            <a:r>
              <a:rPr b="1" spc="-15" dirty="0"/>
              <a:t> </a:t>
            </a:r>
            <a:r>
              <a:rPr b="1" dirty="0"/>
              <a:t>escolar</a:t>
            </a:r>
            <a:r>
              <a:rPr b="1" spc="-20" dirty="0"/>
              <a:t> </a:t>
            </a:r>
            <a:r>
              <a:rPr b="1" dirty="0"/>
              <a:t>conserva</a:t>
            </a:r>
            <a:r>
              <a:rPr b="1" spc="-15" dirty="0"/>
              <a:t> </a:t>
            </a:r>
            <a:r>
              <a:rPr b="1" dirty="0"/>
              <a:t>la</a:t>
            </a:r>
            <a:r>
              <a:rPr b="1" spc="-15" dirty="0"/>
              <a:t> </a:t>
            </a:r>
            <a:r>
              <a:rPr b="1" dirty="0"/>
              <a:t>conducción</a:t>
            </a:r>
            <a:r>
              <a:rPr b="1" spc="-15" dirty="0"/>
              <a:t> </a:t>
            </a:r>
            <a:r>
              <a:rPr b="1" dirty="0"/>
              <a:t>de</a:t>
            </a:r>
            <a:r>
              <a:rPr b="1" spc="-15" dirty="0"/>
              <a:t> </a:t>
            </a:r>
            <a:r>
              <a:rPr b="1" spc="-25" dirty="0"/>
              <a:t>los </a:t>
            </a:r>
            <a:r>
              <a:rPr b="1" dirty="0"/>
              <a:t>asuntos</a:t>
            </a:r>
            <a:r>
              <a:rPr b="1" spc="-15" dirty="0"/>
              <a:t> </a:t>
            </a:r>
            <a:r>
              <a:rPr b="1" dirty="0"/>
              <a:t>técnicos</a:t>
            </a:r>
            <a:r>
              <a:rPr b="1" spc="-15" dirty="0"/>
              <a:t> </a:t>
            </a:r>
            <a:r>
              <a:rPr b="1" dirty="0"/>
              <a:t>y</a:t>
            </a:r>
            <a:r>
              <a:rPr b="1" spc="-15" dirty="0"/>
              <a:t> </a:t>
            </a:r>
            <a:r>
              <a:rPr b="1" spc="-10" dirty="0"/>
              <a:t>administrativos.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43000" y="1600200"/>
            <a:ext cx="10561320" cy="3977640"/>
            <a:chOff x="1143000" y="1600200"/>
            <a:chExt cx="10561320" cy="3977640"/>
          </a:xfrm>
        </p:grpSpPr>
        <p:sp>
          <p:nvSpPr>
            <p:cNvPr id="7" name="object 7"/>
            <p:cNvSpPr/>
            <p:nvPr/>
          </p:nvSpPr>
          <p:spPr>
            <a:xfrm>
              <a:off x="1143000" y="2423160"/>
              <a:ext cx="1508760" cy="45720"/>
            </a:xfrm>
            <a:custGeom>
              <a:avLst/>
              <a:gdLst/>
              <a:ahLst/>
              <a:cxnLst/>
              <a:rect l="l" t="t" r="r" b="b"/>
              <a:pathLst>
                <a:path w="1508760" h="45719">
                  <a:moveTo>
                    <a:pt x="15087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508760" y="45720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C19C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2359" y="1600200"/>
              <a:ext cx="4251959" cy="39776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-3175"/>
            <a:ext cx="12198350" cy="6864350"/>
            <a:chOff x="-3175" y="-3175"/>
            <a:chExt cx="12198350" cy="6864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175" y="-3175"/>
              <a:ext cx="12198350" cy="68643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6180" y="281884"/>
              <a:ext cx="3665622" cy="36512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ctr">
              <a:lnSpc>
                <a:spcPts val="3700"/>
              </a:lnSpc>
              <a:spcBef>
                <a:spcPts val="340"/>
              </a:spcBef>
            </a:pPr>
            <a:r>
              <a:rPr dirty="0" err="1"/>
              <a:t>Evitar</a:t>
            </a:r>
            <a:r>
              <a:rPr spc="-20" dirty="0"/>
              <a:t> </a:t>
            </a:r>
            <a:r>
              <a:rPr dirty="0"/>
              <a:t>acuerdos</a:t>
            </a:r>
            <a:r>
              <a:rPr spc="-15" dirty="0"/>
              <a:t> </a:t>
            </a:r>
            <a:r>
              <a:rPr spc="-10" dirty="0"/>
              <a:t>únicamente verbales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43000" y="1600200"/>
            <a:ext cx="10561320" cy="3977640"/>
            <a:chOff x="1143000" y="1600200"/>
            <a:chExt cx="10561320" cy="3977640"/>
          </a:xfrm>
        </p:grpSpPr>
        <p:sp>
          <p:nvSpPr>
            <p:cNvPr id="7" name="object 7"/>
            <p:cNvSpPr/>
            <p:nvPr/>
          </p:nvSpPr>
          <p:spPr>
            <a:xfrm>
              <a:off x="1143000" y="2423160"/>
              <a:ext cx="1508760" cy="45720"/>
            </a:xfrm>
            <a:custGeom>
              <a:avLst/>
              <a:gdLst/>
              <a:ahLst/>
              <a:cxnLst/>
              <a:rect l="l" t="t" r="r" b="b"/>
              <a:pathLst>
                <a:path w="1508760" h="45719">
                  <a:moveTo>
                    <a:pt x="15087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508760" y="45720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C19C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2359" y="1600200"/>
              <a:ext cx="4251959" cy="397763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87683" y="2664397"/>
            <a:ext cx="6751318" cy="2321148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b="1" spc="-30" dirty="0">
                <a:solidFill>
                  <a:srgbClr val="1E1E1E"/>
                </a:solidFill>
                <a:latin typeface="Arial MT"/>
                <a:cs typeface="Arial MT"/>
              </a:rPr>
              <a:t>Todo</a:t>
            </a:r>
            <a:r>
              <a:rPr sz="1800" b="1" spc="-4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acuerdo</a:t>
            </a:r>
            <a:r>
              <a:rPr sz="1800" b="1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relevante</a:t>
            </a:r>
            <a:r>
              <a:rPr sz="1800" b="1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debe</a:t>
            </a:r>
            <a:r>
              <a:rPr sz="1800" b="1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formalizarse</a:t>
            </a:r>
            <a:r>
              <a:rPr sz="1800" b="1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por</a:t>
            </a:r>
            <a:r>
              <a:rPr sz="1800" b="1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E1E1E"/>
                </a:solidFill>
                <a:latin typeface="Arial MT"/>
                <a:cs typeface="Arial MT"/>
              </a:rPr>
              <a:t>escrito.</a:t>
            </a:r>
            <a:endParaRPr sz="1800" b="1" dirty="0">
              <a:latin typeface="Arial MT"/>
              <a:cs typeface="Arial MT"/>
            </a:endParaRPr>
          </a:p>
          <a:p>
            <a:pPr marL="12700" marR="766445">
              <a:lnSpc>
                <a:spcPts val="2100"/>
              </a:lnSpc>
              <a:spcBef>
                <a:spcPts val="860"/>
              </a:spcBef>
            </a:pP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Elabore</a:t>
            </a:r>
            <a:r>
              <a:rPr sz="1800" b="1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minuta</a:t>
            </a:r>
            <a:r>
              <a:rPr sz="1800" b="1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con</a:t>
            </a:r>
            <a:r>
              <a:rPr sz="1800" b="1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fecha,</a:t>
            </a:r>
            <a:r>
              <a:rPr sz="1800" b="1" spc="-4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lugar,</a:t>
            </a:r>
            <a:r>
              <a:rPr sz="1800" b="1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E1E1E"/>
                </a:solidFill>
                <a:latin typeface="Arial MT"/>
                <a:cs typeface="Arial MT"/>
              </a:rPr>
              <a:t>participantes,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acuerdos</a:t>
            </a:r>
            <a:r>
              <a:rPr sz="1800" b="1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1800" b="1" spc="-10" dirty="0">
                <a:solidFill>
                  <a:srgbClr val="1E1E1E"/>
                </a:solidFill>
                <a:latin typeface="Arial MT"/>
                <a:cs typeface="Arial MT"/>
              </a:rPr>
              <a:t> responsables.</a:t>
            </a:r>
            <a:endParaRPr sz="1800" b="1" dirty="0">
              <a:latin typeface="Arial MT"/>
              <a:cs typeface="Arial MT"/>
            </a:endParaRPr>
          </a:p>
          <a:p>
            <a:pPr marL="12700" marR="1263015">
              <a:lnSpc>
                <a:spcPts val="2100"/>
              </a:lnSpc>
              <a:spcBef>
                <a:spcPts val="800"/>
              </a:spcBef>
            </a:pP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Precise</a:t>
            </a:r>
            <a:r>
              <a:rPr sz="1800" b="1" spc="-3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plazos</a:t>
            </a:r>
            <a:r>
              <a:rPr sz="1800" b="1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y</a:t>
            </a:r>
            <a:r>
              <a:rPr sz="1800" b="1" spc="-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forma</a:t>
            </a:r>
            <a:r>
              <a:rPr sz="1800" b="1" spc="-3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1800" b="1" spc="-2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verificación</a:t>
            </a:r>
            <a:r>
              <a:rPr sz="1800" b="1" spc="-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spc="-25" dirty="0">
                <a:solidFill>
                  <a:srgbClr val="1E1E1E"/>
                </a:solidFill>
                <a:latin typeface="Arial MT"/>
                <a:cs typeface="Arial MT"/>
              </a:rPr>
              <a:t>del </a:t>
            </a:r>
            <a:r>
              <a:rPr sz="1800" b="1" spc="-10" dirty="0">
                <a:solidFill>
                  <a:srgbClr val="1E1E1E"/>
                </a:solidFill>
                <a:latin typeface="Arial MT"/>
                <a:cs typeface="Arial MT"/>
              </a:rPr>
              <a:t>cumplimiento.</a:t>
            </a:r>
            <a:endParaRPr sz="1800" b="1" dirty="0">
              <a:latin typeface="Arial MT"/>
              <a:cs typeface="Arial MT"/>
            </a:endParaRPr>
          </a:p>
          <a:p>
            <a:pPr marL="12700" marR="563245">
              <a:lnSpc>
                <a:spcPts val="2100"/>
              </a:lnSpc>
              <a:spcBef>
                <a:spcPts val="800"/>
              </a:spcBef>
            </a:pP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Si</a:t>
            </a:r>
            <a:r>
              <a:rPr sz="1800" b="1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alguien</a:t>
            </a:r>
            <a:r>
              <a:rPr sz="1800" b="1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no</a:t>
            </a:r>
            <a:r>
              <a:rPr sz="1800" b="1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firma,</a:t>
            </a:r>
            <a:r>
              <a:rPr sz="1800" b="1" spc="-2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deje</a:t>
            </a:r>
            <a:r>
              <a:rPr sz="1800" b="1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constancia</a:t>
            </a:r>
            <a:r>
              <a:rPr sz="1800" b="1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de</a:t>
            </a:r>
            <a:r>
              <a:rPr sz="1800" b="1" spc="-15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ello</a:t>
            </a:r>
            <a:r>
              <a:rPr sz="1800" b="1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1E1E1E"/>
                </a:solidFill>
                <a:latin typeface="Arial MT"/>
                <a:cs typeface="Arial MT"/>
              </a:rPr>
              <a:t>en</a:t>
            </a:r>
            <a:r>
              <a:rPr sz="1800" b="1" spc="-10" dirty="0">
                <a:solidFill>
                  <a:srgbClr val="1E1E1E"/>
                </a:solidFill>
                <a:latin typeface="Arial MT"/>
                <a:cs typeface="Arial MT"/>
              </a:rPr>
              <a:t> </a:t>
            </a:r>
            <a:r>
              <a:rPr sz="1800" b="1" spc="-25" dirty="0">
                <a:solidFill>
                  <a:srgbClr val="1E1E1E"/>
                </a:solidFill>
                <a:latin typeface="Arial MT"/>
                <a:cs typeface="Arial MT"/>
              </a:rPr>
              <a:t>el </a:t>
            </a:r>
            <a:r>
              <a:rPr sz="1800" b="1" spc="-10" dirty="0">
                <a:solidFill>
                  <a:srgbClr val="1E1E1E"/>
                </a:solidFill>
                <a:latin typeface="Arial MT"/>
                <a:cs typeface="Arial MT"/>
              </a:rPr>
              <a:t>documento.</a:t>
            </a:r>
            <a:endParaRPr sz="1800" b="1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-3175"/>
            <a:ext cx="12198350" cy="6864350"/>
            <a:chOff x="-3175" y="-3175"/>
            <a:chExt cx="12198350" cy="6864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175" y="-3175"/>
              <a:ext cx="12198350" cy="68643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6180" y="281884"/>
              <a:ext cx="3665622" cy="36512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ctr">
              <a:lnSpc>
                <a:spcPts val="3700"/>
              </a:lnSpc>
              <a:spcBef>
                <a:spcPts val="340"/>
              </a:spcBef>
            </a:pPr>
            <a:r>
              <a:rPr dirty="0" err="1"/>
              <a:t>Mantener</a:t>
            </a:r>
            <a:r>
              <a:rPr spc="-15" dirty="0"/>
              <a:t> </a:t>
            </a:r>
            <a:r>
              <a:rPr spc="-10" dirty="0"/>
              <a:t>neutralidad institucional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228600" y="2758377"/>
            <a:ext cx="6857999" cy="2471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 algn="ctr">
              <a:lnSpc>
                <a:spcPts val="2100"/>
              </a:lnSpc>
              <a:spcBef>
                <a:spcPts val="219"/>
              </a:spcBef>
            </a:pPr>
            <a:r>
              <a:rPr b="1" dirty="0"/>
              <a:t>La</a:t>
            </a:r>
            <a:r>
              <a:rPr b="1" spc="-25" dirty="0"/>
              <a:t> </a:t>
            </a:r>
            <a:r>
              <a:rPr lang="es-ES" b="1" spc="-25" dirty="0"/>
              <a:t>escuela</a:t>
            </a:r>
            <a:r>
              <a:rPr b="1" spc="-15" dirty="0"/>
              <a:t> </a:t>
            </a:r>
            <a:r>
              <a:rPr b="1" dirty="0"/>
              <a:t>no</a:t>
            </a:r>
            <a:r>
              <a:rPr b="1" spc="-15" dirty="0"/>
              <a:t> </a:t>
            </a:r>
            <a:r>
              <a:rPr b="1" dirty="0"/>
              <a:t>debe</a:t>
            </a:r>
            <a:r>
              <a:rPr b="1" spc="-15" dirty="0"/>
              <a:t> </a:t>
            </a:r>
            <a:r>
              <a:rPr b="1" dirty="0"/>
              <a:t>asumir</a:t>
            </a:r>
            <a:r>
              <a:rPr b="1" spc="-20" dirty="0"/>
              <a:t> </a:t>
            </a:r>
            <a:r>
              <a:rPr b="1" dirty="0"/>
              <a:t>la</a:t>
            </a:r>
            <a:r>
              <a:rPr b="1" spc="-15" dirty="0"/>
              <a:t> </a:t>
            </a:r>
            <a:r>
              <a:rPr b="1" dirty="0"/>
              <a:t>defensa</a:t>
            </a:r>
            <a:r>
              <a:rPr b="1" spc="-15" dirty="0"/>
              <a:t> </a:t>
            </a:r>
            <a:r>
              <a:rPr b="1" dirty="0"/>
              <a:t>personal</a:t>
            </a:r>
            <a:r>
              <a:rPr b="1" spc="-10" dirty="0"/>
              <a:t> </a:t>
            </a:r>
            <a:r>
              <a:rPr b="1" spc="-25" dirty="0"/>
              <a:t>de </a:t>
            </a:r>
            <a:r>
              <a:rPr b="1" dirty="0"/>
              <a:t>alguna</a:t>
            </a:r>
            <a:r>
              <a:rPr b="1" spc="-5" dirty="0"/>
              <a:t> </a:t>
            </a:r>
            <a:r>
              <a:rPr b="1" dirty="0"/>
              <a:t>de</a:t>
            </a:r>
            <a:r>
              <a:rPr b="1" spc="-5" dirty="0"/>
              <a:t> </a:t>
            </a:r>
            <a:r>
              <a:rPr b="1" dirty="0"/>
              <a:t>las</a:t>
            </a:r>
            <a:r>
              <a:rPr b="1" spc="-5" dirty="0"/>
              <a:t> </a:t>
            </a:r>
            <a:r>
              <a:rPr b="1" spc="-10" dirty="0"/>
              <a:t>partes.</a:t>
            </a:r>
          </a:p>
          <a:p>
            <a:pPr marL="12700" marR="30480" algn="ctr">
              <a:lnSpc>
                <a:spcPts val="2100"/>
              </a:lnSpc>
              <a:spcBef>
                <a:spcPts val="800"/>
              </a:spcBef>
            </a:pPr>
            <a:r>
              <a:rPr b="1" dirty="0"/>
              <a:t>Su</a:t>
            </a:r>
            <a:r>
              <a:rPr b="1" spc="-15" dirty="0"/>
              <a:t> </a:t>
            </a:r>
            <a:r>
              <a:rPr b="1" dirty="0"/>
              <a:t>papel</a:t>
            </a:r>
            <a:r>
              <a:rPr b="1" spc="-15" dirty="0"/>
              <a:t> </a:t>
            </a:r>
            <a:r>
              <a:rPr b="1" dirty="0"/>
              <a:t>es</a:t>
            </a:r>
            <a:r>
              <a:rPr b="1" spc="-20" dirty="0"/>
              <a:t> </a:t>
            </a:r>
            <a:r>
              <a:rPr b="1" dirty="0"/>
              <a:t>proteger</a:t>
            </a:r>
            <a:r>
              <a:rPr b="1" spc="-20" dirty="0"/>
              <a:t> </a:t>
            </a:r>
            <a:r>
              <a:rPr b="1" dirty="0"/>
              <a:t>derechos,</a:t>
            </a:r>
            <a:r>
              <a:rPr b="1" spc="-15" dirty="0"/>
              <a:t> </a:t>
            </a:r>
            <a:r>
              <a:rPr b="1" dirty="0"/>
              <a:t>conservar</a:t>
            </a:r>
            <a:r>
              <a:rPr b="1" spc="-20" dirty="0"/>
              <a:t> </a:t>
            </a:r>
            <a:r>
              <a:rPr b="1" dirty="0"/>
              <a:t>evidencia</a:t>
            </a:r>
            <a:r>
              <a:rPr b="1" spc="-15" dirty="0"/>
              <a:t> </a:t>
            </a:r>
            <a:r>
              <a:rPr b="1" spc="-50" dirty="0"/>
              <a:t>y </a:t>
            </a:r>
            <a:r>
              <a:rPr b="1" dirty="0"/>
              <a:t>garantizar</a:t>
            </a:r>
            <a:r>
              <a:rPr b="1" spc="-20" dirty="0"/>
              <a:t> </a:t>
            </a:r>
            <a:r>
              <a:rPr b="1" dirty="0"/>
              <a:t>el</a:t>
            </a:r>
            <a:r>
              <a:rPr b="1" spc="-15" dirty="0"/>
              <a:t> </a:t>
            </a:r>
            <a:r>
              <a:rPr b="1" spc="-10" dirty="0"/>
              <a:t>procedimiento.</a:t>
            </a:r>
          </a:p>
          <a:p>
            <a:pPr marL="12700" marR="1377950" algn="ctr">
              <a:lnSpc>
                <a:spcPts val="2100"/>
              </a:lnSpc>
              <a:spcBef>
                <a:spcPts val="800"/>
              </a:spcBef>
            </a:pPr>
            <a:r>
              <a:rPr b="1" dirty="0"/>
              <a:t>Actúe</a:t>
            </a:r>
            <a:r>
              <a:rPr b="1" spc="-30" dirty="0"/>
              <a:t> </a:t>
            </a:r>
            <a:r>
              <a:rPr b="1" dirty="0"/>
              <a:t>con</a:t>
            </a:r>
            <a:r>
              <a:rPr b="1" spc="-20" dirty="0"/>
              <a:t> </a:t>
            </a:r>
            <a:r>
              <a:rPr b="1" dirty="0"/>
              <a:t>objetividad,</a:t>
            </a:r>
            <a:r>
              <a:rPr b="1" spc="-20" dirty="0"/>
              <a:t> </a:t>
            </a:r>
            <a:r>
              <a:rPr b="1" dirty="0"/>
              <a:t>sin</a:t>
            </a:r>
            <a:r>
              <a:rPr b="1" spc="-20" dirty="0"/>
              <a:t> </a:t>
            </a:r>
            <a:r>
              <a:rPr b="1" dirty="0"/>
              <a:t>favoritismos</a:t>
            </a:r>
            <a:r>
              <a:rPr b="1" spc="-20" dirty="0"/>
              <a:t> </a:t>
            </a:r>
            <a:r>
              <a:rPr b="1" spc="-25" dirty="0"/>
              <a:t>ni </a:t>
            </a:r>
            <a:r>
              <a:rPr b="1" spc="-10" dirty="0"/>
              <a:t>prejuzgamientos.</a:t>
            </a:r>
          </a:p>
          <a:p>
            <a:pPr marL="12700" marR="309880" algn="ctr">
              <a:lnSpc>
                <a:spcPts val="2100"/>
              </a:lnSpc>
              <a:spcBef>
                <a:spcPts val="800"/>
              </a:spcBef>
            </a:pPr>
            <a:r>
              <a:rPr b="1" dirty="0"/>
              <a:t>Corresponde</a:t>
            </a:r>
            <a:r>
              <a:rPr b="1" spc="-20" dirty="0"/>
              <a:t> </a:t>
            </a:r>
            <a:r>
              <a:rPr b="1" dirty="0"/>
              <a:t>a</a:t>
            </a:r>
            <a:r>
              <a:rPr b="1" spc="-20" dirty="0"/>
              <a:t> </a:t>
            </a:r>
            <a:r>
              <a:rPr b="1" dirty="0"/>
              <a:t>la</a:t>
            </a:r>
            <a:r>
              <a:rPr b="1" spc="-20" dirty="0"/>
              <a:t> </a:t>
            </a:r>
            <a:r>
              <a:rPr b="1" dirty="0"/>
              <a:t>autoridad</a:t>
            </a:r>
            <a:r>
              <a:rPr b="1" spc="-20" dirty="0"/>
              <a:t> </a:t>
            </a:r>
            <a:r>
              <a:rPr b="1" dirty="0"/>
              <a:t>competente</a:t>
            </a:r>
            <a:r>
              <a:rPr b="1" spc="-15" dirty="0"/>
              <a:t> </a:t>
            </a:r>
            <a:r>
              <a:rPr b="1" spc="-10" dirty="0"/>
              <a:t>determinar responsabilidades.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43000" y="1600200"/>
            <a:ext cx="10561320" cy="3977640"/>
            <a:chOff x="1143000" y="1600200"/>
            <a:chExt cx="10561320" cy="3977640"/>
          </a:xfrm>
        </p:grpSpPr>
        <p:sp>
          <p:nvSpPr>
            <p:cNvPr id="7" name="object 7"/>
            <p:cNvSpPr/>
            <p:nvPr/>
          </p:nvSpPr>
          <p:spPr>
            <a:xfrm>
              <a:off x="1143000" y="2423160"/>
              <a:ext cx="1508760" cy="45720"/>
            </a:xfrm>
            <a:custGeom>
              <a:avLst/>
              <a:gdLst/>
              <a:ahLst/>
              <a:cxnLst/>
              <a:rect l="l" t="t" r="r" b="b"/>
              <a:pathLst>
                <a:path w="1508760" h="45719">
                  <a:moveTo>
                    <a:pt x="15087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508760" y="45720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C19C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2359" y="1600200"/>
              <a:ext cx="4251959" cy="39776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-3175"/>
            <a:ext cx="12198350" cy="6864350"/>
            <a:chOff x="-3175" y="-3175"/>
            <a:chExt cx="12198350" cy="6864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175" y="-3175"/>
              <a:ext cx="12198350" cy="68643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6180" y="281884"/>
              <a:ext cx="3665622" cy="36512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ctr">
              <a:lnSpc>
                <a:spcPts val="3700"/>
              </a:lnSpc>
              <a:spcBef>
                <a:spcPts val="340"/>
              </a:spcBef>
            </a:pPr>
            <a:r>
              <a:rPr dirty="0" err="1"/>
              <a:t>Implementar</a:t>
            </a:r>
            <a:r>
              <a:rPr spc="-35" dirty="0"/>
              <a:t> </a:t>
            </a:r>
            <a:r>
              <a:rPr dirty="0"/>
              <a:t>medidas</a:t>
            </a:r>
            <a:r>
              <a:rPr spc="-3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25" dirty="0"/>
              <a:t>no </a:t>
            </a:r>
            <a:r>
              <a:rPr spc="-10" dirty="0"/>
              <a:t>repetición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838200" y="2743200"/>
            <a:ext cx="6292826" cy="247142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1034415" algn="ctr">
              <a:lnSpc>
                <a:spcPts val="2100"/>
              </a:lnSpc>
              <a:spcBef>
                <a:spcPts val="219"/>
              </a:spcBef>
            </a:pPr>
            <a:r>
              <a:rPr b="1" dirty="0"/>
              <a:t>El</a:t>
            </a:r>
            <a:r>
              <a:rPr b="1" spc="-15" dirty="0"/>
              <a:t> </a:t>
            </a:r>
            <a:r>
              <a:rPr b="1" dirty="0"/>
              <a:t>cierre</a:t>
            </a:r>
            <a:r>
              <a:rPr b="1" spc="-20" dirty="0"/>
              <a:t> </a:t>
            </a:r>
            <a:r>
              <a:rPr b="1" dirty="0"/>
              <a:t>del</a:t>
            </a:r>
            <a:r>
              <a:rPr b="1" spc="-15" dirty="0"/>
              <a:t> </a:t>
            </a:r>
            <a:r>
              <a:rPr b="1" dirty="0"/>
              <a:t>asunto</a:t>
            </a:r>
            <a:r>
              <a:rPr b="1" spc="-15" dirty="0"/>
              <a:t> </a:t>
            </a:r>
            <a:r>
              <a:rPr b="1" dirty="0"/>
              <a:t>también</a:t>
            </a:r>
            <a:r>
              <a:rPr b="1" spc="-15" dirty="0"/>
              <a:t> </a:t>
            </a:r>
            <a:r>
              <a:rPr b="1" dirty="0"/>
              <a:t>exige</a:t>
            </a:r>
            <a:r>
              <a:rPr b="1" spc="-15" dirty="0"/>
              <a:t> </a:t>
            </a:r>
            <a:r>
              <a:rPr b="1" spc="-10" dirty="0"/>
              <a:t>acciones preventivas.</a:t>
            </a:r>
          </a:p>
          <a:p>
            <a:pPr marL="12700" marR="5080" algn="ctr">
              <a:lnSpc>
                <a:spcPts val="2100"/>
              </a:lnSpc>
              <a:spcBef>
                <a:spcPts val="800"/>
              </a:spcBef>
            </a:pPr>
            <a:r>
              <a:rPr b="1" dirty="0"/>
              <a:t>Considere</a:t>
            </a:r>
            <a:r>
              <a:rPr b="1" spc="-30" dirty="0"/>
              <a:t> </a:t>
            </a:r>
            <a:r>
              <a:rPr b="1" dirty="0"/>
              <a:t>capacitación,</a:t>
            </a:r>
            <a:r>
              <a:rPr b="1" spc="-30" dirty="0"/>
              <a:t> </a:t>
            </a:r>
            <a:r>
              <a:rPr b="1" dirty="0"/>
              <a:t>reorganización</a:t>
            </a:r>
            <a:r>
              <a:rPr b="1" spc="-25" dirty="0"/>
              <a:t> </a:t>
            </a:r>
            <a:r>
              <a:rPr b="1" dirty="0"/>
              <a:t>de</a:t>
            </a:r>
            <a:r>
              <a:rPr b="1" spc="-25" dirty="0"/>
              <a:t> </a:t>
            </a:r>
            <a:r>
              <a:rPr b="1" dirty="0"/>
              <a:t>guardias</a:t>
            </a:r>
            <a:r>
              <a:rPr b="1" spc="-30" dirty="0"/>
              <a:t> </a:t>
            </a:r>
            <a:r>
              <a:rPr b="1" spc="-50" dirty="0"/>
              <a:t>y </a:t>
            </a:r>
            <a:r>
              <a:rPr b="1" dirty="0"/>
              <a:t>revisión</a:t>
            </a:r>
            <a:r>
              <a:rPr b="1" spc="-20" dirty="0"/>
              <a:t> </a:t>
            </a:r>
            <a:r>
              <a:rPr b="1" dirty="0"/>
              <a:t>de</a:t>
            </a:r>
            <a:r>
              <a:rPr b="1" spc="-15" dirty="0"/>
              <a:t> </a:t>
            </a:r>
            <a:r>
              <a:rPr b="1" dirty="0"/>
              <a:t>espacios</a:t>
            </a:r>
            <a:r>
              <a:rPr b="1" spc="-20" dirty="0"/>
              <a:t> </a:t>
            </a:r>
            <a:r>
              <a:rPr b="1" dirty="0"/>
              <a:t>de</a:t>
            </a:r>
            <a:r>
              <a:rPr b="1" spc="-15" dirty="0"/>
              <a:t> </a:t>
            </a:r>
            <a:r>
              <a:rPr b="1" spc="-10" dirty="0"/>
              <a:t>riesgo.</a:t>
            </a:r>
          </a:p>
          <a:p>
            <a:pPr marL="12700" marR="132080" algn="ctr">
              <a:lnSpc>
                <a:spcPts val="2100"/>
              </a:lnSpc>
              <a:spcBef>
                <a:spcPts val="800"/>
              </a:spcBef>
            </a:pPr>
            <a:r>
              <a:rPr b="1" dirty="0"/>
              <a:t>Refuerce</a:t>
            </a:r>
            <a:r>
              <a:rPr b="1" spc="-20" dirty="0"/>
              <a:t> </a:t>
            </a:r>
            <a:r>
              <a:rPr b="1" dirty="0"/>
              <a:t>control</a:t>
            </a:r>
            <a:r>
              <a:rPr b="1" spc="-15" dirty="0"/>
              <a:t> </a:t>
            </a:r>
            <a:r>
              <a:rPr b="1" dirty="0"/>
              <a:t>de</a:t>
            </a:r>
            <a:r>
              <a:rPr b="1" spc="-15" dirty="0"/>
              <a:t> </a:t>
            </a:r>
            <a:r>
              <a:rPr b="1" dirty="0"/>
              <a:t>acceso,</a:t>
            </a:r>
            <a:r>
              <a:rPr b="1" spc="-20" dirty="0"/>
              <a:t> </a:t>
            </a:r>
            <a:r>
              <a:rPr b="1" dirty="0"/>
              <a:t>difusión</a:t>
            </a:r>
            <a:r>
              <a:rPr b="1" spc="-15" dirty="0"/>
              <a:t> </a:t>
            </a:r>
            <a:r>
              <a:rPr b="1" dirty="0"/>
              <a:t>de</a:t>
            </a:r>
            <a:r>
              <a:rPr b="1" spc="-15" dirty="0"/>
              <a:t> </a:t>
            </a:r>
            <a:r>
              <a:rPr b="1" dirty="0"/>
              <a:t>protocolos</a:t>
            </a:r>
            <a:r>
              <a:rPr b="1" spc="-20" dirty="0"/>
              <a:t> </a:t>
            </a:r>
            <a:r>
              <a:rPr b="1" spc="-50" dirty="0"/>
              <a:t>y </a:t>
            </a:r>
            <a:r>
              <a:rPr b="1" dirty="0"/>
              <a:t>seguimiento</a:t>
            </a:r>
            <a:r>
              <a:rPr b="1" spc="-20" dirty="0"/>
              <a:t> </a:t>
            </a:r>
            <a:r>
              <a:rPr b="1" dirty="0"/>
              <a:t>de</a:t>
            </a:r>
            <a:r>
              <a:rPr b="1" spc="-20" dirty="0"/>
              <a:t> </a:t>
            </a:r>
            <a:r>
              <a:rPr b="1" spc="-10" dirty="0"/>
              <a:t>acuerdos.</a:t>
            </a:r>
          </a:p>
          <a:p>
            <a:pPr marL="12700" marR="220345" algn="ctr">
              <a:lnSpc>
                <a:spcPts val="2100"/>
              </a:lnSpc>
              <a:spcBef>
                <a:spcPts val="800"/>
              </a:spcBef>
            </a:pPr>
            <a:r>
              <a:rPr b="1" dirty="0"/>
              <a:t>Documente</a:t>
            </a:r>
            <a:r>
              <a:rPr b="1" spc="-10" dirty="0"/>
              <a:t> </a:t>
            </a:r>
            <a:r>
              <a:rPr b="1" dirty="0"/>
              <a:t>las</a:t>
            </a:r>
            <a:r>
              <a:rPr b="1" spc="-15" dirty="0"/>
              <a:t> </a:t>
            </a:r>
            <a:r>
              <a:rPr b="1" dirty="0"/>
              <a:t>medidas</a:t>
            </a:r>
            <a:r>
              <a:rPr b="1" spc="-15" dirty="0"/>
              <a:t> </a:t>
            </a:r>
            <a:r>
              <a:rPr b="1" dirty="0"/>
              <a:t>adoptadas</a:t>
            </a:r>
            <a:r>
              <a:rPr b="1" spc="-10" dirty="0"/>
              <a:t> </a:t>
            </a:r>
            <a:r>
              <a:rPr b="1" dirty="0"/>
              <a:t>y</a:t>
            </a:r>
            <a:r>
              <a:rPr b="1" spc="-15" dirty="0"/>
              <a:t> </a:t>
            </a:r>
            <a:r>
              <a:rPr b="1" dirty="0"/>
              <a:t>su</a:t>
            </a:r>
            <a:r>
              <a:rPr b="1" spc="-10" dirty="0"/>
              <a:t> evaluación posterior.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43000" y="1600200"/>
            <a:ext cx="10561320" cy="3977640"/>
            <a:chOff x="1143000" y="1600200"/>
            <a:chExt cx="10561320" cy="3977640"/>
          </a:xfrm>
        </p:grpSpPr>
        <p:sp>
          <p:nvSpPr>
            <p:cNvPr id="7" name="object 7"/>
            <p:cNvSpPr/>
            <p:nvPr/>
          </p:nvSpPr>
          <p:spPr>
            <a:xfrm>
              <a:off x="1143000" y="2423160"/>
              <a:ext cx="1508760" cy="45720"/>
            </a:xfrm>
            <a:custGeom>
              <a:avLst/>
              <a:gdLst/>
              <a:ahLst/>
              <a:cxnLst/>
              <a:rect l="l" t="t" r="r" b="b"/>
              <a:pathLst>
                <a:path w="1508760" h="45719">
                  <a:moveTo>
                    <a:pt x="15087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508760" y="45720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C19C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2359" y="1600200"/>
              <a:ext cx="4251959" cy="39776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175" y="-3175"/>
            <a:ext cx="12198350" cy="6864350"/>
            <a:chOff x="-3175" y="-3175"/>
            <a:chExt cx="12198350" cy="68643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3175" y="-3175"/>
              <a:ext cx="12198350" cy="68643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6180" y="281884"/>
              <a:ext cx="3665622" cy="365125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130300" y="1002922"/>
            <a:ext cx="62369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/>
              <a:t>Conservar</a:t>
            </a:r>
            <a:r>
              <a:rPr dirty="0"/>
              <a:t> siempre el </a:t>
            </a:r>
            <a:r>
              <a:rPr spc="-10" dirty="0"/>
              <a:t>acuse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1175999" y="2758377"/>
            <a:ext cx="5604509" cy="222881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208279">
              <a:lnSpc>
                <a:spcPts val="2100"/>
              </a:lnSpc>
              <a:spcBef>
                <a:spcPts val="219"/>
              </a:spcBef>
            </a:pPr>
            <a:r>
              <a:rPr b="1" spc="-30" dirty="0"/>
              <a:t>Todo </a:t>
            </a:r>
            <a:r>
              <a:rPr b="1" dirty="0"/>
              <a:t>oficio</a:t>
            </a:r>
            <a:r>
              <a:rPr b="1" spc="-30" dirty="0"/>
              <a:t> </a:t>
            </a:r>
            <a:r>
              <a:rPr b="1" dirty="0"/>
              <a:t>o</a:t>
            </a:r>
            <a:r>
              <a:rPr b="1" spc="-30" dirty="0"/>
              <a:t> </a:t>
            </a:r>
            <a:r>
              <a:rPr b="1" dirty="0"/>
              <a:t>informe</a:t>
            </a:r>
            <a:r>
              <a:rPr b="1" spc="-30" dirty="0"/>
              <a:t> </a:t>
            </a:r>
            <a:r>
              <a:rPr b="1" dirty="0"/>
              <a:t>remitido</a:t>
            </a:r>
            <a:r>
              <a:rPr b="1" spc="-30" dirty="0"/>
              <a:t> </a:t>
            </a:r>
            <a:r>
              <a:rPr b="1" dirty="0"/>
              <a:t>debe</a:t>
            </a:r>
            <a:r>
              <a:rPr b="1" spc="-30" dirty="0"/>
              <a:t> </a:t>
            </a:r>
            <a:r>
              <a:rPr b="1" dirty="0"/>
              <a:t>contar</a:t>
            </a:r>
            <a:r>
              <a:rPr b="1" spc="-30" dirty="0"/>
              <a:t> </a:t>
            </a:r>
            <a:r>
              <a:rPr b="1" dirty="0"/>
              <a:t>con</a:t>
            </a:r>
            <a:r>
              <a:rPr b="1" spc="-30" dirty="0"/>
              <a:t> </a:t>
            </a:r>
            <a:r>
              <a:rPr b="1" spc="-10" dirty="0"/>
              <a:t>acuse </a:t>
            </a:r>
            <a:r>
              <a:rPr b="1" dirty="0"/>
              <a:t>legible</a:t>
            </a:r>
            <a:r>
              <a:rPr b="1" spc="-15" dirty="0"/>
              <a:t> </a:t>
            </a:r>
            <a:r>
              <a:rPr b="1" dirty="0"/>
              <a:t>o</a:t>
            </a:r>
            <a:r>
              <a:rPr b="1" spc="-15" dirty="0"/>
              <a:t> </a:t>
            </a:r>
            <a:r>
              <a:rPr b="1" dirty="0"/>
              <a:t>constancia</a:t>
            </a:r>
            <a:r>
              <a:rPr b="1" spc="-10" dirty="0"/>
              <a:t> electrónica.</a:t>
            </a: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b="1" dirty="0"/>
              <a:t>Verifique</a:t>
            </a:r>
            <a:r>
              <a:rPr b="1" spc="-35" dirty="0"/>
              <a:t> </a:t>
            </a:r>
            <a:r>
              <a:rPr b="1" dirty="0"/>
              <a:t>fecha,</a:t>
            </a:r>
            <a:r>
              <a:rPr b="1" spc="-35" dirty="0"/>
              <a:t> </a:t>
            </a:r>
            <a:r>
              <a:rPr b="1" dirty="0"/>
              <a:t>sello,</a:t>
            </a:r>
            <a:r>
              <a:rPr b="1" spc="-35" dirty="0"/>
              <a:t> </a:t>
            </a:r>
            <a:r>
              <a:rPr b="1" dirty="0"/>
              <a:t>firma</a:t>
            </a:r>
            <a:r>
              <a:rPr b="1" spc="-35" dirty="0"/>
              <a:t> </a:t>
            </a:r>
            <a:r>
              <a:rPr b="1" dirty="0"/>
              <a:t>o</a:t>
            </a:r>
            <a:r>
              <a:rPr b="1" spc="-30" dirty="0"/>
              <a:t> </a:t>
            </a:r>
            <a:r>
              <a:rPr b="1" dirty="0"/>
              <a:t>registro</a:t>
            </a:r>
            <a:r>
              <a:rPr b="1" spc="-30" dirty="0"/>
              <a:t> </a:t>
            </a:r>
            <a:r>
              <a:rPr b="1" dirty="0"/>
              <a:t>de</a:t>
            </a:r>
            <a:r>
              <a:rPr b="1" spc="-35" dirty="0"/>
              <a:t> </a:t>
            </a:r>
            <a:r>
              <a:rPr b="1" spc="-10" dirty="0"/>
              <a:t>recepción.</a:t>
            </a:r>
          </a:p>
          <a:p>
            <a:pPr marL="12700" marR="5080">
              <a:lnSpc>
                <a:spcPts val="2100"/>
              </a:lnSpc>
              <a:spcBef>
                <a:spcPts val="860"/>
              </a:spcBef>
            </a:pPr>
            <a:r>
              <a:rPr b="1" dirty="0"/>
              <a:t>Archive</a:t>
            </a:r>
            <a:r>
              <a:rPr b="1" spc="-10" dirty="0"/>
              <a:t> </a:t>
            </a:r>
            <a:r>
              <a:rPr b="1" dirty="0"/>
              <a:t>el</a:t>
            </a:r>
            <a:r>
              <a:rPr b="1" spc="-10" dirty="0"/>
              <a:t> </a:t>
            </a:r>
            <a:r>
              <a:rPr b="1" dirty="0"/>
              <a:t>acuse</a:t>
            </a:r>
            <a:r>
              <a:rPr b="1" spc="-10" dirty="0"/>
              <a:t> </a:t>
            </a:r>
            <a:r>
              <a:rPr b="1" dirty="0"/>
              <a:t>junto</a:t>
            </a:r>
            <a:r>
              <a:rPr b="1" spc="-10" dirty="0"/>
              <a:t> </a:t>
            </a:r>
            <a:r>
              <a:rPr b="1" dirty="0"/>
              <a:t>con</a:t>
            </a:r>
            <a:r>
              <a:rPr b="1" spc="-10" dirty="0"/>
              <a:t> </a:t>
            </a:r>
            <a:r>
              <a:rPr b="1" dirty="0"/>
              <a:t>el</a:t>
            </a:r>
            <a:r>
              <a:rPr b="1" spc="-10" dirty="0"/>
              <a:t> </a:t>
            </a:r>
            <a:r>
              <a:rPr b="1" dirty="0"/>
              <a:t>documento</a:t>
            </a:r>
            <a:r>
              <a:rPr b="1" spc="-10" dirty="0"/>
              <a:t> </a:t>
            </a:r>
            <a:r>
              <a:rPr b="1" dirty="0"/>
              <a:t>enviado</a:t>
            </a:r>
            <a:r>
              <a:rPr b="1" spc="-10" dirty="0"/>
              <a:t> </a:t>
            </a:r>
            <a:r>
              <a:rPr b="1" dirty="0"/>
              <a:t>y</a:t>
            </a:r>
            <a:r>
              <a:rPr b="1" spc="-15" dirty="0"/>
              <a:t> </a:t>
            </a:r>
            <a:r>
              <a:rPr b="1" spc="-25" dirty="0"/>
              <a:t>sus </a:t>
            </a:r>
            <a:r>
              <a:rPr b="1" spc="-10" dirty="0"/>
              <a:t>anexos.</a:t>
            </a:r>
          </a:p>
          <a:p>
            <a:pPr marL="12700" marR="43180">
              <a:lnSpc>
                <a:spcPts val="2100"/>
              </a:lnSpc>
              <a:spcBef>
                <a:spcPts val="800"/>
              </a:spcBef>
            </a:pPr>
            <a:r>
              <a:rPr b="1" dirty="0"/>
              <a:t>Sin</a:t>
            </a:r>
            <a:r>
              <a:rPr b="1" spc="-20" dirty="0"/>
              <a:t> </a:t>
            </a:r>
            <a:r>
              <a:rPr b="1" dirty="0"/>
              <a:t>acuse,</a:t>
            </a:r>
            <a:r>
              <a:rPr b="1" spc="-25" dirty="0"/>
              <a:t> </a:t>
            </a:r>
            <a:r>
              <a:rPr b="1" dirty="0"/>
              <a:t>es</a:t>
            </a:r>
            <a:r>
              <a:rPr b="1" spc="-20" dirty="0"/>
              <a:t> </a:t>
            </a:r>
            <a:r>
              <a:rPr b="1" dirty="0"/>
              <a:t>difícil</a:t>
            </a:r>
            <a:r>
              <a:rPr b="1" spc="-20" dirty="0"/>
              <a:t> </a:t>
            </a:r>
            <a:r>
              <a:rPr b="1" dirty="0"/>
              <a:t>acreditar</a:t>
            </a:r>
            <a:r>
              <a:rPr b="1" spc="-25" dirty="0"/>
              <a:t> </a:t>
            </a:r>
            <a:r>
              <a:rPr b="1" dirty="0"/>
              <a:t>el</a:t>
            </a:r>
            <a:r>
              <a:rPr b="1" spc="-15" dirty="0"/>
              <a:t> </a:t>
            </a:r>
            <a:r>
              <a:rPr b="1" dirty="0"/>
              <a:t>cumplimiento</a:t>
            </a:r>
            <a:r>
              <a:rPr b="1" spc="-20" dirty="0"/>
              <a:t> </a:t>
            </a:r>
            <a:r>
              <a:rPr b="1" spc="-10" dirty="0"/>
              <a:t>oportuno </a:t>
            </a:r>
            <a:r>
              <a:rPr b="1" dirty="0"/>
              <a:t>de</a:t>
            </a:r>
            <a:r>
              <a:rPr b="1" spc="-5" dirty="0"/>
              <a:t> </a:t>
            </a:r>
            <a:r>
              <a:rPr b="1" dirty="0"/>
              <a:t>la </a:t>
            </a:r>
            <a:r>
              <a:rPr b="1" spc="-10" dirty="0"/>
              <a:t>actuación.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43000" y="1600200"/>
            <a:ext cx="10561320" cy="3977640"/>
            <a:chOff x="1143000" y="1600200"/>
            <a:chExt cx="10561320" cy="3977640"/>
          </a:xfrm>
        </p:grpSpPr>
        <p:sp>
          <p:nvSpPr>
            <p:cNvPr id="7" name="object 7"/>
            <p:cNvSpPr/>
            <p:nvPr/>
          </p:nvSpPr>
          <p:spPr>
            <a:xfrm>
              <a:off x="1143000" y="2423160"/>
              <a:ext cx="1508760" cy="45720"/>
            </a:xfrm>
            <a:custGeom>
              <a:avLst/>
              <a:gdLst/>
              <a:ahLst/>
              <a:cxnLst/>
              <a:rect l="l" t="t" r="r" b="b"/>
              <a:pathLst>
                <a:path w="1508760" h="45719">
                  <a:moveTo>
                    <a:pt x="150876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508760" y="45720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C19C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2359" y="1600200"/>
              <a:ext cx="4251959" cy="39776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3">
            <a:extLst>
              <a:ext uri="{FF2B5EF4-FFF2-40B4-BE49-F238E27FC236}">
                <a16:creationId xmlns:a16="http://schemas.microsoft.com/office/drawing/2014/main" id="{7B524FAD-0ED7-D6BC-2100-37CA986D152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9" y="2263"/>
            <a:ext cx="12198350" cy="6864350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rcRect r="42997"/>
          <a:stretch>
            <a:fillRect/>
          </a:stretch>
        </p:blipFill>
        <p:spPr>
          <a:xfrm>
            <a:off x="10972800" y="152400"/>
            <a:ext cx="1066800" cy="9326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rcRect t="9834"/>
          <a:stretch>
            <a:fillRect/>
          </a:stretch>
        </p:blipFill>
        <p:spPr>
          <a:xfrm>
            <a:off x="265176" y="1605196"/>
            <a:ext cx="11661648" cy="27317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325</TotalTime>
  <Words>752</Words>
  <Application>Microsoft Office PowerPoint</Application>
  <PresentationFormat>Panorámica</PresentationFormat>
  <Paragraphs>79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Arial MT</vt:lpstr>
      <vt:lpstr>Cambria</vt:lpstr>
      <vt:lpstr>Trebuchet MS</vt:lpstr>
      <vt:lpstr>Office Theme</vt:lpstr>
      <vt:lpstr> ZONA ESCOLAR 272 MTRA. ALMA DELIA MARTÍNEZ SANTANA</vt:lpstr>
      <vt:lpstr>Presentación de PowerPoint</vt:lpstr>
      <vt:lpstr>PROPÓSITO</vt:lpstr>
      <vt:lpstr>Presentación de PowerPoint</vt:lpstr>
      <vt:lpstr>Presentación de PowerPoint</vt:lpstr>
      <vt:lpstr>DIFUSIÓN NORMATIVA</vt:lpstr>
      <vt:lpstr>Presentación de PowerPoint</vt:lpstr>
      <vt:lpstr>VUI 0614 "Estrategias Comunitarias para la Construcción de Espacios Libres de Violencia". </vt:lpstr>
      <vt:lpstr>Presentación de PowerPoint</vt:lpstr>
      <vt:lpstr>Responder exactamente lo requerido</vt:lpstr>
      <vt:lpstr>No permitir que la Asociación de Madres y Padres intervenga en asuntos laborales</vt:lpstr>
      <vt:lpstr>Evitar acuerdos únicamente verbales</vt:lpstr>
      <vt:lpstr>Mantener neutralidad institucional</vt:lpstr>
      <vt:lpstr>Implementar medidas de no repetición</vt:lpstr>
      <vt:lpstr>Conservar siempre el acuse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PRESENTACIÓN DO2_ (3)</dc:title>
  <dc:creator>Usuario</dc:creator>
  <cp:lastModifiedBy>licencia_2869</cp:lastModifiedBy>
  <cp:revision>5</cp:revision>
  <dcterms:created xsi:type="dcterms:W3CDTF">2026-09-01T15:03:10Z</dcterms:created>
  <dcterms:modified xsi:type="dcterms:W3CDTF">2026-09-02T16:24:10Z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2026-08-26T00:00:00Z</vt:filetime>
  </property>
  <property fmtid="{D5CDD505-2E9C-101B-9397-08002B2CF9AE}" pid="4" name="Creator">
    <vt:lpwstr>Keynote</vt:lpwstr>
  </property>
  <property fmtid="{D5CDD505-2E9C-101B-9397-08002B2CF9AE}" pid="5" name="LastSaved">
    <vt:filetime>2026-09-01T00:00:00Z</vt:filetime>
  </property>
  <property fmtid="{D5CDD505-2E9C-101B-9397-08002B2CF9AE}" pid="6" name="Producer">
    <vt:lpwstr>iOS Version 26.6 (Build 23G71) Quartz PDFContext</vt:lpwstr>
  </property>
</Properties>
</file>